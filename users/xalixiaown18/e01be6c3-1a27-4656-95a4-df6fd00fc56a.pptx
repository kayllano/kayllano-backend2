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1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4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0CCAB86-11B8-4C5A-86F4-769478BADA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AB5E1DE-228A-4FEC-8037-9E33396BC97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2435AA8E-E383-475D-9C7E-383B04D75DA7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A279F63C-84C3-410A-9576-8F206F195A7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D16490D3-3C98-4D89-9640-0E957D074D6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C23DD584-B61A-44DE-8E3C-1C67C9061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B7D54EC-217A-4DBA-9F2F-22AE4520B25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pitchFamily="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3DD6EA05-E07E-439B-AE05-E65CFAE2B7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F4DF10-58C4-4B44-924A-B12CCCEEE4A5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531EC7B-3B85-49F0-B430-2D06506A232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2D7251D3-2875-4659-AB98-300A9667B10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7C613AA4-CCC2-4AF8-BF97-71CA8AE757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E3D750E-398D-4D2D-8951-8C976CFF143A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AAE088BE-2211-4A53-83F4-84A72E28B0D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62F58B76-8491-4A4F-8172-CF8C7B251A4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EDC17756-EF98-49F2-B1FF-AEA727703D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25307D6-3501-493E-986E-FB0CCEDCDD29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2806A160-F7EB-4638-BD7A-4D9E5C9A4E6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9AB8E5AA-A234-4DC2-820A-4FE77F5B1BD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E4CB74CE-06F6-4CAF-A4BA-378D577767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8F77EC0-4911-46EC-B258-451DE1D399A4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306CFA0-2A67-4A14-903A-53445026664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09B34568-1F53-4EFF-9D3E-498E49E78A7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3A7D89B0-0A23-4933-8072-A9194235A3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649690B-6902-4B34-8E09-715C8C0E4E32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FF80DEA7-8ACC-441B-9C24-80CC95B6A1A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A7CDF4B1-E05A-4DFA-97AF-A4C7F581488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048675CE-26C2-4832-B1F5-87362F90E8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CA06A90-68FE-41D3-916A-08F9DBF866E7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2BA78D8-441B-44CB-9BEE-B10367EC350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7892D0C1-4EFB-4631-8207-B072FEB9D66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C6F746A2-6296-48D5-B8B1-7C6C216D2E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E3A98A1-75E9-4FFC-8346-08E4DED67C84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934F3D99-8D5D-451A-8331-EB4B3031601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5F120790-3DDA-4C59-A058-D107111441D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BA4AA8D1-0A83-48A3-B591-F4D760EDF4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C6AC47-DFC5-4509-A393-1B6593023C63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E602EBD2-11A7-4DBC-9526-5417B941120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0D395D36-4B5D-4A31-A28D-4F99D185C40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B9417800-89E7-4EE7-8B9B-2ECE742C97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01571FF-030C-4CCD-9FE4-966ECFC6FE57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80BD4CC-B60A-4791-A368-CF22B6FE85B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393C750F-28AB-4575-BFEE-8C2879C6FAA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FD2258EA-4BC5-4C55-9DB0-F397820E30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BDF986D-820C-44B1-BC60-BF8E89DF32F2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F4E65C0E-386E-4C69-8A3C-10E337A08D2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0D941985-F72C-4F47-8C60-52B0E52F3FA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EA158877-050C-4ADE-B914-1F196EEE26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3EC415B-A651-46D4-A92F-C84995A48EF6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C541DDD-41A7-4BFC-9301-738A8204BC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CCFBFCA1-F85A-41F3-9412-C74221CA630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25BD387A-1B70-40DA-94F9-60956DFF52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C36D0D-0C0E-463D-B41C-49C49E2B3C34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73B17C18-17DD-4C4B-B80A-6EDBEFEAD8C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D2EC455B-7991-4321-8897-000A5CB69CA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D2818ADD-9D6C-4ED0-BF40-4BBED6CE05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851C3FB-ECF4-46D8-A666-442BA8F24BE9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80BAD357-CE47-4737-95F2-B449CF7C59B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94A4C136-9909-4C9A-844A-86C88EA1994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47B067FC-2B5A-4027-B898-37E7145DD8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7C87105-1398-41C4-B25E-3C8368A23FCB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7A540CAA-9A13-43DB-BE1C-D1026E34060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E2CB4C8B-B442-44D7-AFEA-0D01CD0F920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7B39DF79-CE77-4D6B-BD48-5FE3A6F1B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564AB0E-EB34-4E87-9326-7EC841DEE101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DDDD15E9-89F1-47A9-AA7E-AC0F5DFE1B5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13E50A38-90B1-45D5-9F53-CFC07901D25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C30D78DD-4063-4282-9D33-2943109006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4256BA2-2400-407E-BDB3-29E0100DC8AB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C7C3CE0-52D4-4F41-B43D-4AD9D43E0D9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8BF2E15F-2EC2-4304-83D2-C54F4AA995F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DF783DB-1461-487F-9350-A9F8092486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C088D2E-05DB-47FE-A1E5-6D19FEDAD1B9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9A437D0A-7AEA-4D89-AAF4-58187CA0261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43AE6770-6CD7-4BFC-BE21-858B5B9FEBD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F1DDE6A7-D1BD-4BF5-8B39-ADC371B19B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1AA5506-212B-405B-9C41-C10AB7B854C0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3D5AF7E5-82A3-469F-ABF9-9A6E58C24B5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BFF86C04-C34B-4E8D-8939-E03DB721355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0F8C889C-6411-4510-91BC-A123A99766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04F8959-EF87-4BB1-B632-7B3883FB1733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666B3377-914D-4CBB-85EE-F8E3A86CA4E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B3C20674-FD35-44FD-BFCD-76E3AF537F6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F9163DE0-E178-4021-BC28-2A76E7CE8F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92E0C5A-F523-44A2-9CEC-93710143F650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C83B2072-1704-44E4-BD87-5A2F60F9FC6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D7A8384B-1BC0-4AD6-8002-DF310E361EA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E7C60866-C259-44EC-9510-9DFE5DD855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E7FDDBF-76F2-4C45-AD45-ACD5D3BFE81F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2468FE4E-A9AC-43EC-A7D4-33F0E8FEA83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B028B76F-8483-4066-BCED-658D5376D65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A54139B2-5F4B-48DA-B0B1-D9D3157EDE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672D460-D614-4708-A63A-A2B5FE28046A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D2C05D8F-C9D2-4724-A72A-8D5208ED6D1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61710494-30DD-4BCD-AEB5-254F440A3F7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514C88E3-A3C5-42C7-8F65-AE154D550D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9A63C37-66DE-462B-9D47-5CF205CDB12E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0AE2E8F5-2737-42C2-B38B-78DD6828960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E036A546-39B2-4A77-91A9-CD578F8E187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3A58967A-251C-4A1B-A3C8-1AC7F32057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37A3D67-2BE4-4952-AE12-197B95921279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69BC643E-B08F-44B2-818A-3E966C07A1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AB1492FC-5EF2-4237-AC4A-88F2CC23D42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3A8FF43F-24BD-45EA-83BB-F83AA5E24F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1D0381C-0BA8-42C2-A177-E75E5C0C733C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1C21B27D-DD25-4A53-A373-F416B841B1B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FED4296F-F250-425C-BFF2-A8AEF3B9C62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7D0612A5-85D0-4D50-BB57-81F799AF7C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D0BEFFD-7DE0-4EFC-9CD7-C54C8150394F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468B20F-AE3F-45AB-B78A-9D47238BFB4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D10883D6-F8C4-403F-BE15-89E357C0C68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book_cover _big.jpg">
            <a:extLst>
              <a:ext uri="{FF2B5EF4-FFF2-40B4-BE49-F238E27FC236}">
                <a16:creationId xmlns:a16="http://schemas.microsoft.com/office/drawing/2014/main" id="{BA6D7BD3-E7F5-4FA9-8CD3-B4F3D7F3A8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57200"/>
            <a:ext cx="432435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105400" y="533400"/>
            <a:ext cx="3657600" cy="2362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105400" y="3048000"/>
            <a:ext cx="3662363" cy="2133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273A8-27A9-4C1A-BB5D-0DFBAD7093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FAD25-1108-4A6B-A24C-2D6668C3E0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6D4C6-D057-4CF1-A5A8-A2C07DA00F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8B6EDBC-2C87-4211-ACCA-6924C68D5E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066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5D48F2-A2A3-4FA3-8FD4-26A623275E5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Barnett/Ziegler/</a:t>
            </a:r>
            <a:r>
              <a:rPr lang="en-US" err="1"/>
              <a:t>Byleen</a:t>
            </a:r>
            <a:r>
              <a:rPr lang="en-US"/>
              <a:t> </a:t>
            </a:r>
            <a:r>
              <a:rPr lang="en-US" i="1"/>
              <a:t>College Mathematics12e</a:t>
            </a:r>
          </a:p>
        </p:txBody>
      </p:sp>
    </p:spTree>
    <p:extLst>
      <p:ext uri="{BB962C8B-B14F-4D97-AF65-F5344CB8AC3E}">
        <p14:creationId xmlns:p14="http://schemas.microsoft.com/office/powerpoint/2010/main" val="1501099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052E066-DE37-4DB2-8F3D-FDA7D8BEBEB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Barnett/Ziegler/</a:t>
            </a:r>
            <a:r>
              <a:rPr lang="en-US" err="1"/>
              <a:t>Byleen</a:t>
            </a:r>
            <a:r>
              <a:rPr lang="en-US"/>
              <a:t> </a:t>
            </a:r>
            <a:r>
              <a:rPr lang="en-US" i="1"/>
              <a:t>College Mathematics12e</a:t>
            </a:r>
          </a:p>
        </p:txBody>
      </p:sp>
    </p:spTree>
    <p:extLst>
      <p:ext uri="{BB962C8B-B14F-4D97-AF65-F5344CB8AC3E}">
        <p14:creationId xmlns:p14="http://schemas.microsoft.com/office/powerpoint/2010/main" val="14307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03EEDE-5BAF-43B5-B7FD-142D01BDACE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Barnett/Ziegler/</a:t>
            </a:r>
            <a:r>
              <a:rPr lang="en-US" err="1"/>
              <a:t>Byleen</a:t>
            </a:r>
            <a:r>
              <a:rPr lang="en-US"/>
              <a:t> </a:t>
            </a:r>
            <a:r>
              <a:rPr lang="en-US" i="1"/>
              <a:t>College Mathematics12e</a:t>
            </a:r>
          </a:p>
        </p:txBody>
      </p:sp>
    </p:spTree>
    <p:extLst>
      <p:ext uri="{BB962C8B-B14F-4D97-AF65-F5344CB8AC3E}">
        <p14:creationId xmlns:p14="http://schemas.microsoft.com/office/powerpoint/2010/main" val="222879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1DCA337-1154-4BE1-80D0-B07A1BE5974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Barnett/Ziegler/</a:t>
            </a:r>
            <a:r>
              <a:rPr lang="en-US" err="1"/>
              <a:t>Byleen</a:t>
            </a:r>
            <a:r>
              <a:rPr lang="en-US"/>
              <a:t> </a:t>
            </a:r>
            <a:r>
              <a:rPr lang="en-US" i="1"/>
              <a:t>College Mathematics12e</a:t>
            </a:r>
          </a:p>
        </p:txBody>
      </p:sp>
    </p:spTree>
    <p:extLst>
      <p:ext uri="{BB962C8B-B14F-4D97-AF65-F5344CB8AC3E}">
        <p14:creationId xmlns:p14="http://schemas.microsoft.com/office/powerpoint/2010/main" val="2120594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3CC8EC2-8500-4EC0-9F17-C8DAF6FF72E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Barnett/Ziegler/</a:t>
            </a:r>
            <a:r>
              <a:rPr lang="en-US" err="1"/>
              <a:t>Byleen</a:t>
            </a:r>
            <a:r>
              <a:rPr lang="en-US"/>
              <a:t> </a:t>
            </a:r>
            <a:r>
              <a:rPr lang="en-US" i="1"/>
              <a:t>College Mathematics12e</a:t>
            </a:r>
          </a:p>
        </p:txBody>
      </p:sp>
    </p:spTree>
    <p:extLst>
      <p:ext uri="{BB962C8B-B14F-4D97-AF65-F5344CB8AC3E}">
        <p14:creationId xmlns:p14="http://schemas.microsoft.com/office/powerpoint/2010/main" val="358410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22DB8C0-939B-440A-8B7A-E1A9140F739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Barnett/Ziegler/</a:t>
            </a:r>
            <a:r>
              <a:rPr lang="en-US" err="1"/>
              <a:t>Byleen</a:t>
            </a:r>
            <a:r>
              <a:rPr lang="en-US"/>
              <a:t> </a:t>
            </a:r>
            <a:r>
              <a:rPr lang="en-US" i="1"/>
              <a:t>College Mathematics12e</a:t>
            </a:r>
          </a:p>
        </p:txBody>
      </p:sp>
    </p:spTree>
    <p:extLst>
      <p:ext uri="{BB962C8B-B14F-4D97-AF65-F5344CB8AC3E}">
        <p14:creationId xmlns:p14="http://schemas.microsoft.com/office/powerpoint/2010/main" val="3074241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6D81E3-D3AE-44F4-B191-E04C6AEE619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Barnett/Ziegler/</a:t>
            </a:r>
            <a:r>
              <a:rPr lang="en-US" err="1"/>
              <a:t>Byleen</a:t>
            </a:r>
            <a:r>
              <a:rPr lang="en-US"/>
              <a:t> </a:t>
            </a:r>
            <a:r>
              <a:rPr lang="en-US" i="1"/>
              <a:t>College Mathematics12e</a:t>
            </a:r>
          </a:p>
        </p:txBody>
      </p:sp>
    </p:spTree>
    <p:extLst>
      <p:ext uri="{BB962C8B-B14F-4D97-AF65-F5344CB8AC3E}">
        <p14:creationId xmlns:p14="http://schemas.microsoft.com/office/powerpoint/2010/main" val="752042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E8E472-06C0-4DF1-93D2-06A5BCC1D3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Barnett/Ziegler/</a:t>
            </a:r>
            <a:r>
              <a:rPr lang="en-US" err="1"/>
              <a:t>Byleen</a:t>
            </a:r>
            <a:r>
              <a:rPr lang="en-US"/>
              <a:t> </a:t>
            </a:r>
            <a:r>
              <a:rPr lang="en-US" i="1"/>
              <a:t>College Mathematics12e</a:t>
            </a:r>
          </a:p>
        </p:txBody>
      </p:sp>
    </p:spTree>
    <p:extLst>
      <p:ext uri="{BB962C8B-B14F-4D97-AF65-F5344CB8AC3E}">
        <p14:creationId xmlns:p14="http://schemas.microsoft.com/office/powerpoint/2010/main" val="145256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515CD5-9F86-4B8B-997C-DF0117EA30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i="1" smtClean="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r>
              <a:rPr lang="en-US" altLang="en-US"/>
              <a:t>Barnett/Ziegler/Byleen College Mathematics12e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1770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AA762B7-A9C2-40E1-B5A0-924A9B1CD70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Barnett/Ziegler/</a:t>
            </a:r>
            <a:r>
              <a:rPr lang="en-US" err="1"/>
              <a:t>Byleen</a:t>
            </a:r>
            <a:r>
              <a:rPr lang="en-US"/>
              <a:t> </a:t>
            </a:r>
            <a:r>
              <a:rPr lang="en-US" i="1"/>
              <a:t>College Mathematics12e</a:t>
            </a:r>
          </a:p>
        </p:txBody>
      </p:sp>
    </p:spTree>
    <p:extLst>
      <p:ext uri="{BB962C8B-B14F-4D97-AF65-F5344CB8AC3E}">
        <p14:creationId xmlns:p14="http://schemas.microsoft.com/office/powerpoint/2010/main" val="515859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6DAD0-0C8D-4B20-83A0-914E94AEAC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Barnett/Ziegler/</a:t>
            </a:r>
            <a:r>
              <a:rPr lang="en-US" err="1"/>
              <a:t>Byleen</a:t>
            </a:r>
            <a:r>
              <a:rPr lang="en-US"/>
              <a:t> </a:t>
            </a:r>
            <a:r>
              <a:rPr lang="en-US" i="1"/>
              <a:t>College Mathematics 12e</a:t>
            </a:r>
          </a:p>
        </p:txBody>
      </p:sp>
    </p:spTree>
    <p:extLst>
      <p:ext uri="{BB962C8B-B14F-4D97-AF65-F5344CB8AC3E}">
        <p14:creationId xmlns:p14="http://schemas.microsoft.com/office/powerpoint/2010/main" val="1422513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5C626-797B-4A6F-9DCB-A5678E0B43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Barnett/Ziegler/</a:t>
            </a:r>
            <a:r>
              <a:rPr lang="en-US" err="1"/>
              <a:t>Byleen</a:t>
            </a:r>
            <a:r>
              <a:rPr lang="en-US"/>
              <a:t> </a:t>
            </a:r>
            <a:r>
              <a:rPr lang="en-US" i="1"/>
              <a:t>College Mathematics 12e</a:t>
            </a:r>
          </a:p>
        </p:txBody>
      </p:sp>
    </p:spTree>
    <p:extLst>
      <p:ext uri="{BB962C8B-B14F-4D97-AF65-F5344CB8AC3E}">
        <p14:creationId xmlns:p14="http://schemas.microsoft.com/office/powerpoint/2010/main" val="2176260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A621653-6519-4415-BB11-6925FBAF72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71EBEBF-6B71-4102-BB5B-4B00C34A8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874D76E-A945-46D9-AD8C-4A74E99088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477000"/>
            <a:ext cx="533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Barnett/Ziegler/</a:t>
            </a:r>
            <a:r>
              <a:rPr lang="en-US" err="1"/>
              <a:t>Byleen</a:t>
            </a:r>
            <a:r>
              <a:rPr lang="en-US"/>
              <a:t> </a:t>
            </a:r>
            <a:r>
              <a:rPr lang="en-US" i="1"/>
              <a:t>College Mathematics12e</a:t>
            </a:r>
          </a:p>
        </p:txBody>
      </p:sp>
      <p:pic>
        <p:nvPicPr>
          <p:cNvPr id="2" name="Picture 7" descr="paint">
            <a:extLst>
              <a:ext uri="{FF2B5EF4-FFF2-40B4-BE49-F238E27FC236}">
                <a16:creationId xmlns:a16="http://schemas.microsoft.com/office/drawing/2014/main" id="{9D759890-2882-4532-80DB-2024AC5B72D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Rectangle 8">
            <a:extLst>
              <a:ext uri="{FF2B5EF4-FFF2-40B4-BE49-F238E27FC236}">
                <a16:creationId xmlns:a16="http://schemas.microsoft.com/office/drawing/2014/main" id="{B06E48CA-8C7C-4D41-8452-AB013D8E357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458200" y="6477000"/>
            <a:ext cx="4016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D49CF43-CAA7-4828-BAF3-6A7ECDD6BA95}" type="slidenum">
              <a:rPr lang="en-US" altLang="en-US" sz="1400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5" r:id="rId10"/>
    <p:sldLayoutId id="2147483713" r:id="rId11"/>
    <p:sldLayoutId id="2147483716" r:id="rId12"/>
    <p:sldLayoutId id="2147483717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ＭＳ Ｐゴシック" pitchFamily="1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charset="0"/>
          <a:ea typeface="ＭＳ Ｐゴシック" charset="-128"/>
          <a:cs typeface="ＭＳ Ｐゴシック" pitchFamily="1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charset="0"/>
          <a:ea typeface="ＭＳ Ｐゴシック" charset="-128"/>
          <a:cs typeface="ＭＳ Ｐゴシック" pitchFamily="1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charset="0"/>
          <a:ea typeface="ＭＳ Ｐゴシック" charset="-128"/>
          <a:cs typeface="ＭＳ Ｐゴシック" pitchFamily="1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charset="0"/>
          <a:ea typeface="ＭＳ Ｐゴシック" charset="-128"/>
          <a:cs typeface="ＭＳ Ｐゴシック" pitchFamily="1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 Black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  <a:cs typeface="ＭＳ Ｐゴシック" pitchFamily="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FF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FF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FF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FF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3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9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4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6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8E975A0-5FFA-41BA-A4B1-ABC707C3D91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876800" y="533400"/>
            <a:ext cx="4114800" cy="2362200"/>
          </a:xfrm>
        </p:spPr>
        <p:txBody>
          <a:bodyPr/>
          <a:lstStyle/>
          <a:p>
            <a:r>
              <a:rPr lang="en-US" altLang="en-US" dirty="0"/>
              <a:t>Chapter 2</a:t>
            </a:r>
            <a:br>
              <a:rPr lang="en-US" altLang="en-US" dirty="0"/>
            </a:br>
            <a:r>
              <a:rPr lang="en-US" altLang="en-US" sz="2400" dirty="0"/>
              <a:t>NON LINIER EQUATION</a:t>
            </a:r>
            <a:br>
              <a:rPr lang="en-US" altLang="en-US" dirty="0"/>
            </a:br>
            <a:r>
              <a:rPr lang="en-US" altLang="en-US" dirty="0"/>
              <a:t>(</a:t>
            </a:r>
            <a:r>
              <a:rPr lang="en-US" altLang="en-US" sz="2400" dirty="0"/>
              <a:t>Functions and Graphs)</a:t>
            </a:r>
            <a:endParaRPr lang="en-US" altLang="en-US" dirty="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F5474E2-F24B-4688-BD3E-AFABA490043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105400" y="3505200"/>
            <a:ext cx="3662363" cy="2209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800"/>
              <a:t>Section 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/>
              <a:t>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681006F8-DBB2-481B-8D95-5E80777DC6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284064A8-1267-4E80-9A50-457B14A9D9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Learning Objectives for Section 2.1</a:t>
            </a:r>
            <a:br>
              <a:rPr kumimoji="1" lang="en-US" altLang="en-US"/>
            </a:br>
            <a:r>
              <a:rPr kumimoji="1" lang="en-US" altLang="en-US">
                <a:solidFill>
                  <a:schemeClr val="tx1"/>
                </a:solidFill>
              </a:rPr>
              <a:t>Functions</a:t>
            </a:r>
            <a:endParaRPr kumimoji="1" lang="en-US" altLang="en-US">
              <a:solidFill>
                <a:srgbClr val="FF0000"/>
              </a:solidFill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2EF6FC3D-E4FE-494E-8DE3-470DADDC52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848600" cy="4171950"/>
          </a:xfrm>
        </p:spPr>
        <p:txBody>
          <a:bodyPr/>
          <a:lstStyle/>
          <a:p>
            <a:r>
              <a:rPr kumimoji="1" lang="en-US" altLang="en-US"/>
              <a:t>The student will be able to do point-by-point plotting of equations in two variables.</a:t>
            </a:r>
          </a:p>
          <a:p>
            <a:r>
              <a:rPr kumimoji="1" lang="en-US" altLang="en-US"/>
              <a:t>The student will be able to give and apply the definition of a function.</a:t>
            </a:r>
          </a:p>
          <a:p>
            <a:r>
              <a:rPr kumimoji="1" lang="en-US" altLang="en-US"/>
              <a:t>The student will be able to identify domain and range of a function. </a:t>
            </a:r>
          </a:p>
          <a:p>
            <a:r>
              <a:rPr kumimoji="1" lang="en-US" altLang="en-US"/>
              <a:t>The student will be able to use function notation.</a:t>
            </a:r>
          </a:p>
          <a:p>
            <a:r>
              <a:rPr kumimoji="1" lang="en-US" altLang="en-US"/>
              <a:t>The student will be able to solve applications. </a:t>
            </a:r>
          </a:p>
        </p:txBody>
      </p:sp>
    </p:spTree>
  </p:cSld>
  <p:clrMapOvr>
    <a:masterClrMapping/>
  </p:clrMapOvr>
  <p:transition>
    <p:zoom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Footer Placeholder 3">
            <a:extLst>
              <a:ext uri="{FF2B5EF4-FFF2-40B4-BE49-F238E27FC236}">
                <a16:creationId xmlns:a16="http://schemas.microsoft.com/office/drawing/2014/main" id="{75546D87-7FF6-4128-B29B-078FFF6CA5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1FC32575-84FB-4F26-AD5F-C1325CFD15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Graphing an Equation</a:t>
            </a:r>
            <a:endParaRPr kumimoji="1" lang="en-US" altLang="en-US">
              <a:solidFill>
                <a:srgbClr val="FF0000"/>
              </a:solidFill>
            </a:endParaRP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3425D081-5FE6-4985-9D27-294AF1262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/>
              <a:t>To sketch the graph an equation in </a:t>
            </a:r>
            <a:r>
              <a:rPr kumimoji="1" lang="en-US" altLang="en-US" i="1"/>
              <a:t>x</a:t>
            </a:r>
            <a:r>
              <a:rPr kumimoji="1" lang="en-US" altLang="en-US"/>
              <a:t> and </a:t>
            </a:r>
            <a:r>
              <a:rPr kumimoji="1" lang="en-US" altLang="en-US" i="1"/>
              <a:t>y</a:t>
            </a:r>
            <a:r>
              <a:rPr kumimoji="1" lang="en-US" altLang="en-US"/>
              <a:t>, we need to find ordered pairs that solve the equation and plot the ordered pairs on a grid. This process is called </a:t>
            </a:r>
            <a:r>
              <a:rPr kumimoji="1" lang="en-US" altLang="en-US" b="1"/>
              <a:t>point-by-point plotting</a:t>
            </a:r>
            <a:r>
              <a:rPr kumimoji="1" lang="en-US" altLang="en-US"/>
              <a:t>.</a:t>
            </a:r>
          </a:p>
          <a:p>
            <a:pPr>
              <a:buFont typeface="Wingdings" panose="05000000000000000000" pitchFamily="2" charset="2"/>
              <a:buNone/>
            </a:pPr>
            <a:endParaRPr kumimoji="1" lang="en-US" altLang="en-US"/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en-US"/>
              <a:t>For example, let’s plot the graph of the equation </a:t>
            </a:r>
          </a:p>
        </p:txBody>
      </p:sp>
      <p:graphicFrame>
        <p:nvGraphicFramePr>
          <p:cNvPr id="19458" name="Object 2">
            <a:extLst>
              <a:ext uri="{FF2B5EF4-FFF2-40B4-BE49-F238E27FC236}">
                <a16:creationId xmlns:a16="http://schemas.microsoft.com/office/drawing/2014/main" id="{C64EFB66-A79A-4E15-ABCD-0FD66D8C7E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4375" y="4321175"/>
          <a:ext cx="225425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4" imgW="647700" imgH="241300" progId="Equation.DSMT4">
                  <p:embed/>
                </p:oleObj>
              </mc:Choice>
              <mc:Fallback>
                <p:oleObj name="Equation" r:id="rId4" imgW="647700" imgH="241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75" y="4321175"/>
                        <a:ext cx="225425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Footer Placeholder 5">
            <a:extLst>
              <a:ext uri="{FF2B5EF4-FFF2-40B4-BE49-F238E27FC236}">
                <a16:creationId xmlns:a16="http://schemas.microsoft.com/office/drawing/2014/main" id="{28761E7B-7E16-494E-996C-D2EE4FB4EF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14F4A9BE-4EF3-4242-BFE0-1ACEB142AB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Graphing an Equation: </a:t>
            </a:r>
            <a:br>
              <a:rPr kumimoji="1" lang="en-US" altLang="en-US"/>
            </a:br>
            <a:r>
              <a:rPr kumimoji="1" lang="en-US" altLang="en-US"/>
              <a:t>Making a Table of Ordered Pairs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05DFD7A1-FA80-446A-BCC5-09949E7A276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3813175" cy="4114800"/>
          </a:xfrm>
        </p:spPr>
        <p:txBody>
          <a:bodyPr/>
          <a:lstStyle/>
          <a:p>
            <a:r>
              <a:rPr kumimoji="1" lang="en-US" altLang="en-US">
                <a:solidFill>
                  <a:srgbClr val="CC3300"/>
                </a:solidFill>
              </a:rPr>
              <a:t>Make a table of ordered pairs that satisfy the equation </a:t>
            </a:r>
          </a:p>
        </p:txBody>
      </p:sp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75CFBD4A-5FE0-42F6-80AF-E294FA6ADD9C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1047750" y="3278188"/>
          <a:ext cx="2039938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7" name="Equation" r:id="rId4" imgW="647700" imgH="241300" progId="Equation.DSMT4">
                  <p:embed/>
                </p:oleObj>
              </mc:Choice>
              <mc:Fallback>
                <p:oleObj name="Equation" r:id="rId4" imgW="647700" imgH="241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3278188"/>
                        <a:ext cx="2039938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Group 5">
            <a:extLst>
              <a:ext uri="{FF2B5EF4-FFF2-40B4-BE49-F238E27FC236}">
                <a16:creationId xmlns:a16="http://schemas.microsoft.com/office/drawing/2014/main" id="{07585EBD-DD18-4906-B68E-5DF758AFFF71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4572000" y="2362200"/>
          <a:ext cx="3352800" cy="3200400"/>
        </p:xfrm>
        <a:graphic>
          <a:graphicData uri="http://schemas.openxmlformats.org/drawingml/2006/table">
            <a:tbl>
              <a:tblPr/>
              <a:tblGrid>
                <a:gridCol w="1358900">
                  <a:extLst>
                    <a:ext uri="{9D8B030D-6E8A-4147-A177-3AD203B41FA5}">
                      <a16:colId xmlns:a16="http://schemas.microsoft.com/office/drawing/2014/main" val="4289924670"/>
                    </a:ext>
                  </a:extLst>
                </a:gridCol>
                <a:gridCol w="1993900">
                  <a:extLst>
                    <a:ext uri="{9D8B030D-6E8A-4147-A177-3AD203B41FA5}">
                      <a16:colId xmlns:a16="http://schemas.microsoft.com/office/drawing/2014/main" val="1449411212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Times" panose="02020603050405020304" pitchFamily="18" charset="0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Times" panose="02020603050405020304" pitchFamily="18" charset="0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737159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Times" panose="02020603050405020304" pitchFamily="18" charset="0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–3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Times" panose="02020603050405020304" pitchFamily="18" charset="0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(–3)</a:t>
                      </a:r>
                      <a:r>
                        <a:rPr kumimoji="1" lang="en-US" alt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2</a:t>
                      </a: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+2 = 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185807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Times" panose="02020603050405020304" pitchFamily="18" charset="0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–2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Times" panose="02020603050405020304" pitchFamily="18" charset="0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(–2)</a:t>
                      </a:r>
                      <a:r>
                        <a:rPr kumimoji="1" lang="en-US" alt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2</a:t>
                      </a: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+2 =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251750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Times" panose="02020603050405020304" pitchFamily="18" charset="0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–1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Times" panose="02020603050405020304" pitchFamily="18" charset="0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(–1)</a:t>
                      </a:r>
                      <a:r>
                        <a:rPr kumimoji="1" lang="en-US" alt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2</a:t>
                      </a: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+2 =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052555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Times" panose="02020603050405020304" pitchFamily="18" charset="0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Times" panose="02020603050405020304" pitchFamily="18" charset="0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(0)</a:t>
                      </a:r>
                      <a:r>
                        <a:rPr kumimoji="1" lang="en-US" alt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2</a:t>
                      </a: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+2 =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357141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Times" panose="02020603050405020304" pitchFamily="18" charset="0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Times" panose="02020603050405020304" pitchFamily="18" charset="0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(1)</a:t>
                      </a:r>
                      <a:r>
                        <a:rPr kumimoji="1" lang="en-US" alt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2</a:t>
                      </a: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+2 =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109281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Times" panose="02020603050405020304" pitchFamily="18" charset="0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Times" panose="02020603050405020304" pitchFamily="18" charset="0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(2)</a:t>
                      </a:r>
                      <a:r>
                        <a:rPr kumimoji="1" lang="en-US" alt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2</a:t>
                      </a:r>
                      <a:r>
                        <a:rPr kumimoji="1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+2 =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0216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1EAC56C8-544E-4671-B076-D052046632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D478A14-608C-47B1-88CC-4C8B1EA840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Graphing an Equation: </a:t>
            </a:r>
            <a:br>
              <a:rPr kumimoji="1" lang="en-US" altLang="en-US"/>
            </a:br>
            <a:r>
              <a:rPr kumimoji="1" lang="en-US" altLang="en-US"/>
              <a:t>Plotting the points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FEDA405D-F7B9-49AE-AF4E-0B56D77545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>
                <a:solidFill>
                  <a:srgbClr val="CC3300"/>
                </a:solidFill>
              </a:rPr>
              <a:t>Next, plot the points and connect them with a smooth curve. You may need to plot additional points to see the pattern formed. </a:t>
            </a:r>
          </a:p>
          <a:p>
            <a:endParaRPr kumimoji="1" lang="en-US" altLang="en-US">
              <a:solidFill>
                <a:srgbClr val="CC3300"/>
              </a:solidFill>
            </a:endParaRPr>
          </a:p>
        </p:txBody>
      </p:sp>
      <p:pic>
        <p:nvPicPr>
          <p:cNvPr id="23557" name="Picture 4">
            <a:extLst>
              <a:ext uri="{FF2B5EF4-FFF2-40B4-BE49-F238E27FC236}">
                <a16:creationId xmlns:a16="http://schemas.microsoft.com/office/drawing/2014/main" id="{F1C2185B-C2AF-4DB1-A0C1-412FA4A4E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3810000" cy="308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>
            <a:extLst>
              <a:ext uri="{FF2B5EF4-FFF2-40B4-BE49-F238E27FC236}">
                <a16:creationId xmlns:a16="http://schemas.microsoft.com/office/drawing/2014/main" id="{7143CBDA-63E3-41B2-9977-5897C1D6C5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CEF8FD9A-E568-4888-941D-21A1E3A005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Functions 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39EAA496-7936-4EF7-892D-165BD1E0D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kumimoji="1" lang="en-US" altLang="en-US">
                <a:solidFill>
                  <a:schemeClr val="tx2"/>
                </a:solidFill>
              </a:rPr>
              <a:t>The previous graph is the graph of a function. The idea of a function is this: a correspondence between two sets </a:t>
            </a:r>
            <a:r>
              <a:rPr kumimoji="1" lang="en-US" altLang="en-US" i="1">
                <a:solidFill>
                  <a:schemeClr val="tx2"/>
                </a:solidFill>
              </a:rPr>
              <a:t>D</a:t>
            </a:r>
            <a:r>
              <a:rPr kumimoji="1" lang="en-US" altLang="en-US">
                <a:solidFill>
                  <a:schemeClr val="tx2"/>
                </a:solidFill>
              </a:rPr>
              <a:t> and </a:t>
            </a:r>
            <a:r>
              <a:rPr kumimoji="1" lang="en-US" altLang="en-US" i="1">
                <a:solidFill>
                  <a:schemeClr val="tx2"/>
                </a:solidFill>
              </a:rPr>
              <a:t>R</a:t>
            </a:r>
            <a:r>
              <a:rPr kumimoji="1" lang="en-US" altLang="en-US">
                <a:solidFill>
                  <a:schemeClr val="tx2"/>
                </a:solidFill>
              </a:rPr>
              <a:t> such that </a:t>
            </a:r>
            <a:r>
              <a:rPr kumimoji="1" lang="en-US" altLang="en-US" b="1">
                <a:solidFill>
                  <a:schemeClr val="tx2"/>
                </a:solidFill>
              </a:rPr>
              <a:t>to each element of the first set, </a:t>
            </a:r>
            <a:r>
              <a:rPr kumimoji="1" lang="en-US" altLang="en-US" b="1" i="1">
                <a:solidFill>
                  <a:schemeClr val="tx2"/>
                </a:solidFill>
              </a:rPr>
              <a:t>D</a:t>
            </a:r>
            <a:r>
              <a:rPr kumimoji="1" lang="en-US" altLang="en-US" b="1">
                <a:solidFill>
                  <a:schemeClr val="tx2"/>
                </a:solidFill>
              </a:rPr>
              <a:t>, there corresponds one and only one element of the second set, </a:t>
            </a:r>
            <a:r>
              <a:rPr kumimoji="1" lang="en-US" altLang="en-US" b="1" i="1">
                <a:solidFill>
                  <a:schemeClr val="tx2"/>
                </a:solidFill>
              </a:rPr>
              <a:t>R</a:t>
            </a:r>
            <a:r>
              <a:rPr kumimoji="1" lang="en-US" altLang="en-US" b="1">
                <a:solidFill>
                  <a:schemeClr val="tx2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kumimoji="1" lang="en-US" altLang="en-US">
                <a:solidFill>
                  <a:schemeClr val="tx2"/>
                </a:solidFill>
              </a:rPr>
              <a:t>The first set is called the </a:t>
            </a:r>
            <a:r>
              <a:rPr kumimoji="1" lang="en-US" altLang="en-US" b="1">
                <a:solidFill>
                  <a:schemeClr val="tx2"/>
                </a:solidFill>
              </a:rPr>
              <a:t>domain</a:t>
            </a:r>
            <a:r>
              <a:rPr kumimoji="1" lang="en-US" altLang="en-US">
                <a:solidFill>
                  <a:schemeClr val="tx2"/>
                </a:solidFill>
              </a:rPr>
              <a:t>, and the set of corresponding elements in the second set is called the </a:t>
            </a:r>
            <a:r>
              <a:rPr kumimoji="1" lang="en-US" altLang="en-US" b="1">
                <a:solidFill>
                  <a:schemeClr val="tx2"/>
                </a:solidFill>
              </a:rPr>
              <a:t>range</a:t>
            </a:r>
            <a:r>
              <a:rPr kumimoji="1" lang="en-US" altLang="en-US">
                <a:solidFill>
                  <a:schemeClr val="tx2"/>
                </a:solidFill>
              </a:rPr>
              <a:t>.</a:t>
            </a:r>
            <a:endParaRPr kumimoji="1" lang="en-US" altLang="en-US" i="1" u="sng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en-US">
                <a:solidFill>
                  <a:schemeClr val="tx2"/>
                </a:solidFill>
              </a:rPr>
              <a:t>	For example, the cost of a pizza (</a:t>
            </a:r>
            <a:r>
              <a:rPr kumimoji="1" lang="en-US" altLang="en-US" i="1">
                <a:solidFill>
                  <a:schemeClr val="tx2"/>
                </a:solidFill>
              </a:rPr>
              <a:t>C</a:t>
            </a:r>
            <a:r>
              <a:rPr kumimoji="1" lang="en-US" altLang="en-US">
                <a:solidFill>
                  <a:schemeClr val="tx2"/>
                </a:solidFill>
              </a:rPr>
              <a:t>) is related to the size of the pizza. A 10 inch diameter pizza costs $9.00, while a 16 inch diameter pizza costs $12.00.  </a:t>
            </a:r>
          </a:p>
        </p:txBody>
      </p:sp>
    </p:spTree>
  </p:cSld>
  <p:clrMapOvr>
    <a:masterClrMapping/>
  </p:clrMapOvr>
  <p:transition>
    <p:zoom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>
            <a:extLst>
              <a:ext uri="{FF2B5EF4-FFF2-40B4-BE49-F238E27FC236}">
                <a16:creationId xmlns:a16="http://schemas.microsoft.com/office/drawing/2014/main" id="{E35C6D3A-D6FE-4920-92BE-FCEBB41FAF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99798590-AA35-49A2-8A75-A386C4C599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Function Definition</a:t>
            </a:r>
            <a:endParaRPr kumimoji="1" lang="en-US" altLang="en-US">
              <a:solidFill>
                <a:srgbClr val="FF0000"/>
              </a:solidFill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2B4DF2CC-B2DB-4E6E-B2BC-35601CBB0B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178800" cy="4495800"/>
          </a:xfrm>
        </p:spPr>
        <p:txBody>
          <a:bodyPr/>
          <a:lstStyle/>
          <a:p>
            <a:r>
              <a:rPr kumimoji="1" lang="en-US" altLang="en-US">
                <a:solidFill>
                  <a:srgbClr val="221104"/>
                </a:solidFill>
              </a:rPr>
              <a:t>You can visualize a function by the following diagram which shows a correspondence between two sets: </a:t>
            </a:r>
            <a:r>
              <a:rPr kumimoji="1" lang="en-US" altLang="en-US" i="1">
                <a:solidFill>
                  <a:srgbClr val="221104"/>
                </a:solidFill>
              </a:rPr>
              <a:t>D</a:t>
            </a:r>
            <a:r>
              <a:rPr kumimoji="1" lang="en-US" altLang="en-US">
                <a:solidFill>
                  <a:srgbClr val="221104"/>
                </a:solidFill>
              </a:rPr>
              <a:t>, the domain of the function, gives the diameter of pizzas,  and </a:t>
            </a:r>
            <a:r>
              <a:rPr kumimoji="1" lang="en-US" altLang="en-US" i="1">
                <a:solidFill>
                  <a:srgbClr val="221104"/>
                </a:solidFill>
              </a:rPr>
              <a:t>R</a:t>
            </a:r>
            <a:r>
              <a:rPr kumimoji="1" lang="en-US" altLang="en-US">
                <a:solidFill>
                  <a:srgbClr val="221104"/>
                </a:solidFill>
              </a:rPr>
              <a:t>, the range of the function gives the cost of the pizza.</a:t>
            </a:r>
          </a:p>
        </p:txBody>
      </p:sp>
      <p:sp>
        <p:nvSpPr>
          <p:cNvPr id="27653" name="Oval 4">
            <a:extLst>
              <a:ext uri="{FF2B5EF4-FFF2-40B4-BE49-F238E27FC236}">
                <a16:creationId xmlns:a16="http://schemas.microsoft.com/office/drawing/2014/main" id="{901142DD-36E0-45C7-82EF-846AAD482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429000"/>
            <a:ext cx="1981200" cy="1752600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7654" name="Text Box 5">
            <a:extLst>
              <a:ext uri="{FF2B5EF4-FFF2-40B4-BE49-F238E27FC236}">
                <a16:creationId xmlns:a16="http://schemas.microsoft.com/office/drawing/2014/main" id="{A5D7D3E1-58F2-4E0B-BFCA-CDA324BAA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581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7655" name="Text Box 6">
            <a:extLst>
              <a:ext uri="{FF2B5EF4-FFF2-40B4-BE49-F238E27FC236}">
                <a16:creationId xmlns:a16="http://schemas.microsoft.com/office/drawing/2014/main" id="{C6E6A12F-B176-4A26-8ABA-EA4973A3A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038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7656" name="Text Box 7">
            <a:extLst>
              <a:ext uri="{FF2B5EF4-FFF2-40B4-BE49-F238E27FC236}">
                <a16:creationId xmlns:a16="http://schemas.microsoft.com/office/drawing/2014/main" id="{C36FC937-6AC8-455A-A986-3CE6359BC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2672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27657" name="Oval 8">
            <a:extLst>
              <a:ext uri="{FF2B5EF4-FFF2-40B4-BE49-F238E27FC236}">
                <a16:creationId xmlns:a16="http://schemas.microsoft.com/office/drawing/2014/main" id="{22329A61-91C3-4222-BA3B-84DDD7D16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048000"/>
            <a:ext cx="2362200" cy="2438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7658" name="Line 9">
            <a:extLst>
              <a:ext uri="{FF2B5EF4-FFF2-40B4-BE49-F238E27FC236}">
                <a16:creationId xmlns:a16="http://schemas.microsoft.com/office/drawing/2014/main" id="{1C61729E-182F-4922-9D46-8C700782D6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8100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D"/>
          </a:p>
        </p:txBody>
      </p:sp>
      <p:sp>
        <p:nvSpPr>
          <p:cNvPr id="27659" name="Text Box 10">
            <a:extLst>
              <a:ext uri="{FF2B5EF4-FFF2-40B4-BE49-F238E27FC236}">
                <a16:creationId xmlns:a16="http://schemas.microsoft.com/office/drawing/2014/main" id="{36F68E2D-AC86-4D90-A8B6-804673A82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8100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60" name="Text Box 11">
            <a:extLst>
              <a:ext uri="{FF2B5EF4-FFF2-40B4-BE49-F238E27FC236}">
                <a16:creationId xmlns:a16="http://schemas.microsoft.com/office/drawing/2014/main" id="{9CC87CC2-A02F-43DF-8911-27E007907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733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9.00</a:t>
            </a:r>
          </a:p>
        </p:txBody>
      </p:sp>
      <p:sp>
        <p:nvSpPr>
          <p:cNvPr id="27661" name="Line 12">
            <a:extLst>
              <a:ext uri="{FF2B5EF4-FFF2-40B4-BE49-F238E27FC236}">
                <a16:creationId xmlns:a16="http://schemas.microsoft.com/office/drawing/2014/main" id="{2E6F0757-618A-488F-A378-651FFAA3B1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495800"/>
            <a:ext cx="388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D"/>
          </a:p>
        </p:txBody>
      </p:sp>
      <p:sp>
        <p:nvSpPr>
          <p:cNvPr id="27662" name="Text Box 13">
            <a:extLst>
              <a:ext uri="{FF2B5EF4-FFF2-40B4-BE49-F238E27FC236}">
                <a16:creationId xmlns:a16="http://schemas.microsoft.com/office/drawing/2014/main" id="{68FB8CFB-1C09-4BBE-874E-65937497C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724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12.00</a:t>
            </a:r>
          </a:p>
        </p:txBody>
      </p:sp>
      <p:sp>
        <p:nvSpPr>
          <p:cNvPr id="27663" name="Line 14">
            <a:extLst>
              <a:ext uri="{FF2B5EF4-FFF2-40B4-BE49-F238E27FC236}">
                <a16:creationId xmlns:a16="http://schemas.microsoft.com/office/drawing/2014/main" id="{501E6D67-EDFA-4571-8C97-C47971BBFA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2672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D"/>
          </a:p>
        </p:txBody>
      </p:sp>
      <p:sp>
        <p:nvSpPr>
          <p:cNvPr id="27664" name="Text Box 15">
            <a:extLst>
              <a:ext uri="{FF2B5EF4-FFF2-40B4-BE49-F238E27FC236}">
                <a16:creationId xmlns:a16="http://schemas.microsoft.com/office/drawing/2014/main" id="{8FB1F14E-28EB-4A24-8423-06E6AC2AE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1148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10.00</a:t>
            </a:r>
          </a:p>
        </p:txBody>
      </p:sp>
      <p:sp>
        <p:nvSpPr>
          <p:cNvPr id="27665" name="Text Box 16">
            <a:extLst>
              <a:ext uri="{FF2B5EF4-FFF2-40B4-BE49-F238E27FC236}">
                <a16:creationId xmlns:a16="http://schemas.microsoft.com/office/drawing/2014/main" id="{815ADC63-8ABA-4C7E-97A5-279612C5A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4102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domain </a:t>
            </a:r>
            <a:r>
              <a:rPr lang="en-US" altLang="en-US" i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7666" name="Text Box 17">
            <a:extLst>
              <a:ext uri="{FF2B5EF4-FFF2-40B4-BE49-F238E27FC236}">
                <a16:creationId xmlns:a16="http://schemas.microsoft.com/office/drawing/2014/main" id="{BB6796E2-1443-4A28-A795-471D247C3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562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range </a:t>
            </a:r>
            <a:r>
              <a:rPr lang="en-US" altLang="en-US" i="1">
                <a:latin typeface="Times New Roman" panose="02020603050405020304" pitchFamily="18" charset="0"/>
              </a:rPr>
              <a:t>R</a:t>
            </a:r>
          </a:p>
        </p:txBody>
      </p:sp>
    </p:spTree>
  </p:cSld>
  <p:clrMapOvr>
    <a:masterClrMapping/>
  </p:clrMapOvr>
  <p:transition>
    <p:zoom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>
            <a:extLst>
              <a:ext uri="{FF2B5EF4-FFF2-40B4-BE49-F238E27FC236}">
                <a16:creationId xmlns:a16="http://schemas.microsoft.com/office/drawing/2014/main" id="{6EE9AE7D-D985-4095-BCD2-83DE8CBDF9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F2047D4-77B3-4D0A-A00E-0911DB293D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Functions Specified by Equations</a:t>
            </a:r>
            <a:endParaRPr kumimoji="1" lang="en-US" altLang="en-US">
              <a:solidFill>
                <a:srgbClr val="FF0000"/>
              </a:solidFill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5C738BE-9046-4977-8406-CBA97FE7C52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748588" cy="4076700"/>
          </a:xfrm>
        </p:spPr>
        <p:txBody>
          <a:bodyPr/>
          <a:lstStyle/>
          <a:p>
            <a:r>
              <a:rPr kumimoji="1" lang="en-US" altLang="en-US">
                <a:solidFill>
                  <a:srgbClr val="221104"/>
                </a:solidFill>
              </a:rPr>
              <a:t>If in an equation in two variables, we get exactly one output (value for the dependent variable) for each input (value for the independent variable), then the equation specifies a function. The graph of such a function is just the graph of the specifying equation.</a:t>
            </a:r>
          </a:p>
          <a:p>
            <a:endParaRPr kumimoji="1" lang="en-US" altLang="en-US">
              <a:solidFill>
                <a:srgbClr val="221104"/>
              </a:solidFill>
            </a:endParaRPr>
          </a:p>
          <a:p>
            <a:r>
              <a:rPr kumimoji="1" lang="en-US" altLang="en-US">
                <a:solidFill>
                  <a:srgbClr val="221104"/>
                </a:solidFill>
              </a:rPr>
              <a:t>If we get more than one output for a given input, the equation does not specify a function.</a:t>
            </a:r>
          </a:p>
        </p:txBody>
      </p:sp>
      <p:sp>
        <p:nvSpPr>
          <p:cNvPr id="29701" name="Text Box 4">
            <a:extLst>
              <a:ext uri="{FF2B5EF4-FFF2-40B4-BE49-F238E27FC236}">
                <a16:creationId xmlns:a16="http://schemas.microsoft.com/office/drawing/2014/main" id="{E42EBC22-555B-40AB-996A-A1AC5335A3A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371600" y="3581400"/>
            <a:ext cx="815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02" name="Text Box 5">
            <a:extLst>
              <a:ext uri="{FF2B5EF4-FFF2-40B4-BE49-F238E27FC236}">
                <a16:creationId xmlns:a16="http://schemas.microsoft.com/office/drawing/2014/main" id="{B09F44D0-4510-4CD2-9640-FDC465314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Footer Placeholder 4">
            <a:extLst>
              <a:ext uri="{FF2B5EF4-FFF2-40B4-BE49-F238E27FC236}">
                <a16:creationId xmlns:a16="http://schemas.microsoft.com/office/drawing/2014/main" id="{E391F89D-FEBE-4E73-BE6B-16BBB455FE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31749" name="Rectangle 2">
            <a:extLst>
              <a:ext uri="{FF2B5EF4-FFF2-40B4-BE49-F238E27FC236}">
                <a16:creationId xmlns:a16="http://schemas.microsoft.com/office/drawing/2014/main" id="{40BD2A4D-8772-45E3-9C2D-C94C7281C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Functions Specified by Equations</a:t>
            </a:r>
            <a:endParaRPr kumimoji="1" lang="en-US" altLang="en-US">
              <a:solidFill>
                <a:srgbClr val="FF0000"/>
              </a:solidFill>
            </a:endParaRPr>
          </a:p>
        </p:txBody>
      </p:sp>
      <p:sp>
        <p:nvSpPr>
          <p:cNvPr id="31750" name="Rectangle 3">
            <a:extLst>
              <a:ext uri="{FF2B5EF4-FFF2-40B4-BE49-F238E27FC236}">
                <a16:creationId xmlns:a16="http://schemas.microsoft.com/office/drawing/2014/main" id="{E1DFFEF2-B4B7-4DD5-88AB-6A173235043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748588" cy="544513"/>
          </a:xfrm>
        </p:spPr>
        <p:txBody>
          <a:bodyPr/>
          <a:lstStyle/>
          <a:p>
            <a:r>
              <a:rPr kumimoji="1" lang="en-US" altLang="en-US">
                <a:solidFill>
                  <a:srgbClr val="221104"/>
                </a:solidFill>
              </a:rPr>
              <a:t>Consider the equation that was graphed on a previous slide</a:t>
            </a:r>
            <a:endParaRPr kumimoji="1" lang="en-US" altLang="en-US">
              <a:solidFill>
                <a:srgbClr val="990000"/>
              </a:solidFill>
            </a:endParaRPr>
          </a:p>
        </p:txBody>
      </p:sp>
      <p:sp>
        <p:nvSpPr>
          <p:cNvPr id="31751" name="AutoShape 4">
            <a:extLst>
              <a:ext uri="{FF2B5EF4-FFF2-40B4-BE49-F238E27FC236}">
                <a16:creationId xmlns:a16="http://schemas.microsoft.com/office/drawing/2014/main" id="{701F6639-50E6-4FC8-AF61-735275BFB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895600"/>
            <a:ext cx="990600" cy="685800"/>
          </a:xfrm>
          <a:custGeom>
            <a:avLst/>
            <a:gdLst>
              <a:gd name="T0" fmla="*/ 39751265 w 21600"/>
              <a:gd name="T1" fmla="*/ 10887075 h 21600"/>
              <a:gd name="T2" fmla="*/ 22715008 w 21600"/>
              <a:gd name="T3" fmla="*/ 21774150 h 21600"/>
              <a:gd name="T4" fmla="*/ 5678752 w 21600"/>
              <a:gd name="T5" fmla="*/ 10887075 h 21600"/>
              <a:gd name="T6" fmla="*/ 2271500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1752" name="Rectangle 5">
            <a:extLst>
              <a:ext uri="{FF2B5EF4-FFF2-40B4-BE49-F238E27FC236}">
                <a16:creationId xmlns:a16="http://schemas.microsoft.com/office/drawing/2014/main" id="{C023E1CB-28CD-40F3-A5AA-E7EB7DB5C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581400"/>
            <a:ext cx="2286000" cy="12192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1753" name="AutoShape 6">
            <a:extLst>
              <a:ext uri="{FF2B5EF4-FFF2-40B4-BE49-F238E27FC236}">
                <a16:creationId xmlns:a16="http://schemas.microsoft.com/office/drawing/2014/main" id="{ED85D3EA-49FE-40EC-BAD8-E7CB3FED0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800600"/>
            <a:ext cx="838200" cy="6858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1754" name="Text Box 7">
            <a:extLst>
              <a:ext uri="{FF2B5EF4-FFF2-40B4-BE49-F238E27FC236}">
                <a16:creationId xmlns:a16="http://schemas.microsoft.com/office/drawing/2014/main" id="{7FC1B64F-69D3-495E-81EA-2D7558A4F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0480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–2</a:t>
            </a:r>
          </a:p>
        </p:txBody>
      </p:sp>
      <p:sp>
        <p:nvSpPr>
          <p:cNvPr id="31755" name="Text Box 8">
            <a:extLst>
              <a:ext uri="{FF2B5EF4-FFF2-40B4-BE49-F238E27FC236}">
                <a16:creationId xmlns:a16="http://schemas.microsoft.com/office/drawing/2014/main" id="{7E7867A1-1168-4322-8EAF-EB8F7CD7FF9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371600" y="3581400"/>
            <a:ext cx="815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56" name="Text Box 9">
            <a:extLst>
              <a:ext uri="{FF2B5EF4-FFF2-40B4-BE49-F238E27FC236}">
                <a16:creationId xmlns:a16="http://schemas.microsoft.com/office/drawing/2014/main" id="{B58E0995-2591-456B-BF71-073961A0C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5638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1757" name="Text Box 10">
            <a:extLst>
              <a:ext uri="{FF2B5EF4-FFF2-40B4-BE49-F238E27FC236}">
                <a16:creationId xmlns:a16="http://schemas.microsoft.com/office/drawing/2014/main" id="{9D7ABF8B-AB90-405E-B7E4-CB08B9807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590800"/>
            <a:ext cx="1828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Input:</a:t>
            </a:r>
            <a:br>
              <a:rPr lang="en-US" altLang="en-US">
                <a:latin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</a:rPr>
              <a:t> = –2</a:t>
            </a:r>
          </a:p>
        </p:txBody>
      </p:sp>
      <p:sp>
        <p:nvSpPr>
          <p:cNvPr id="31758" name="Text Box 11">
            <a:extLst>
              <a:ext uri="{FF2B5EF4-FFF2-40B4-BE49-F238E27FC236}">
                <a16:creationId xmlns:a16="http://schemas.microsoft.com/office/drawing/2014/main" id="{3F7A66FC-BDC7-4616-BDC9-60E2CC933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581400"/>
            <a:ext cx="2362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Process: </a:t>
            </a:r>
            <a:br>
              <a:rPr lang="en-US" altLang="en-US">
                <a:latin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</a:rPr>
              <a:t>square (–2),</a:t>
            </a:r>
            <a:br>
              <a:rPr lang="en-US" altLang="en-US">
                <a:latin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</a:rPr>
              <a:t>then subtract 2 </a:t>
            </a:r>
          </a:p>
        </p:txBody>
      </p:sp>
      <p:sp>
        <p:nvSpPr>
          <p:cNvPr id="31759" name="Text Box 12">
            <a:extLst>
              <a:ext uri="{FF2B5EF4-FFF2-40B4-BE49-F238E27FC236}">
                <a16:creationId xmlns:a16="http://schemas.microsoft.com/office/drawing/2014/main" id="{84E298CD-361E-403B-B771-9137ACBD0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181600"/>
            <a:ext cx="1981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Output: </a:t>
            </a:r>
            <a:br>
              <a:rPr lang="en-US" altLang="en-US">
                <a:latin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</a:rPr>
              <a:t>result is 2</a:t>
            </a:r>
            <a:r>
              <a:rPr lang="en-US" altLang="en-US" sz="1600">
                <a:solidFill>
                  <a:srgbClr val="CA562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1760" name="Text Box 13">
            <a:extLst>
              <a:ext uri="{FF2B5EF4-FFF2-40B4-BE49-F238E27FC236}">
                <a16:creationId xmlns:a16="http://schemas.microsoft.com/office/drawing/2014/main" id="{D0B53BB5-41A1-47C3-947E-309926292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114800"/>
            <a:ext cx="20574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(–2,2) is an ordered pair of the function.</a:t>
            </a:r>
          </a:p>
        </p:txBody>
      </p:sp>
      <p:sp>
        <p:nvSpPr>
          <p:cNvPr id="31761" name="Text Box 14">
            <a:extLst>
              <a:ext uri="{FF2B5EF4-FFF2-40B4-BE49-F238E27FC236}">
                <a16:creationId xmlns:a16="http://schemas.microsoft.com/office/drawing/2014/main" id="{D7B3EC2B-4E1E-49BD-9045-3BDD055CC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31746" name="Object 2">
            <a:extLst>
              <a:ext uri="{FF2B5EF4-FFF2-40B4-BE49-F238E27FC236}">
                <a16:creationId xmlns:a16="http://schemas.microsoft.com/office/drawing/2014/main" id="{40005DDC-6EDE-4CEF-83A1-4624E5C60681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1627188" y="2601913"/>
          <a:ext cx="21717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4" name="Equation" r:id="rId4" imgW="634680" imgH="228600" progId="Equation.DSMT4">
                  <p:embed/>
                </p:oleObj>
              </mc:Choice>
              <mc:Fallback>
                <p:oleObj name="Equation" r:id="rId4" imgW="63468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8" y="2601913"/>
                        <a:ext cx="21717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3">
            <a:extLst>
              <a:ext uri="{FF2B5EF4-FFF2-40B4-BE49-F238E27FC236}">
                <a16:creationId xmlns:a16="http://schemas.microsoft.com/office/drawing/2014/main" id="{A923BB7E-6C09-4E91-AB6C-86FE6E7C70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3733800"/>
          <a:ext cx="21986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5" name="Equation" r:id="rId6" imgW="609600" imgH="254000" progId="Equation.DSMT4">
                  <p:embed/>
                </p:oleObj>
              </mc:Choice>
              <mc:Fallback>
                <p:oleObj name="Equation" r:id="rId6" imgW="609600" imgH="25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733800"/>
                        <a:ext cx="21986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2">
            <a:extLst>
              <a:ext uri="{FF2B5EF4-FFF2-40B4-BE49-F238E27FC236}">
                <a16:creationId xmlns:a16="http://schemas.microsoft.com/office/drawing/2014/main" id="{F4D39B42-7A04-4F5E-A008-D463D4456A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34EA456-0B4F-4131-9239-D4685502D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Vertical Line Test for a Function</a:t>
            </a:r>
          </a:p>
        </p:txBody>
      </p:sp>
      <p:sp>
        <p:nvSpPr>
          <p:cNvPr id="33796" name="Text Box 3">
            <a:extLst>
              <a:ext uri="{FF2B5EF4-FFF2-40B4-BE49-F238E27FC236}">
                <a16:creationId xmlns:a16="http://schemas.microsoft.com/office/drawing/2014/main" id="{BE147D0C-C89F-447D-B6FA-944D98849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685800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If you have the graph of an equation, there is an easy way to determine if it is the graph of an function.  It is called the </a:t>
            </a:r>
            <a:r>
              <a:rPr lang="en-US" altLang="en-US" b="1">
                <a:latin typeface="Times New Roman" panose="02020603050405020304" pitchFamily="18" charset="0"/>
              </a:rPr>
              <a:t>vertical line test</a:t>
            </a:r>
            <a:r>
              <a:rPr lang="en-US" altLang="en-US">
                <a:latin typeface="Times New Roman" panose="02020603050405020304" pitchFamily="18" charset="0"/>
              </a:rPr>
              <a:t> which states that: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An equation specifies a function if each vertical line in the coordinate system passes through at most one point on the graph of the equation.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If any vertical line passes through two or more points on the graph of an equation, then the equation does not specify a function.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>
            <a:extLst>
              <a:ext uri="{FF2B5EF4-FFF2-40B4-BE49-F238E27FC236}">
                <a16:creationId xmlns:a16="http://schemas.microsoft.com/office/drawing/2014/main" id="{71A68102-6889-4D52-9C21-8FDE3CA6AA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778B44B7-2297-475F-975F-499C5844B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Vertical Line Test for a Function</a:t>
            </a:r>
            <a:br>
              <a:rPr kumimoji="1" lang="en-US" altLang="en-US"/>
            </a:br>
            <a:r>
              <a:rPr kumimoji="1" lang="en-US" altLang="en-US"/>
              <a:t>(continued)</a:t>
            </a:r>
          </a:p>
        </p:txBody>
      </p:sp>
      <p:pic>
        <p:nvPicPr>
          <p:cNvPr id="35844" name="Picture 3" descr="CIRCLE">
            <a:extLst>
              <a:ext uri="{FF2B5EF4-FFF2-40B4-BE49-F238E27FC236}">
                <a16:creationId xmlns:a16="http://schemas.microsoft.com/office/drawing/2014/main" id="{4A8ED213-D037-4B61-B001-710723C051C3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5238" y="2074863"/>
            <a:ext cx="2389187" cy="1652587"/>
          </a:xfrm>
        </p:spPr>
      </p:pic>
      <p:sp>
        <p:nvSpPr>
          <p:cNvPr id="35845" name="Line 4">
            <a:extLst>
              <a:ext uri="{FF2B5EF4-FFF2-40B4-BE49-F238E27FC236}">
                <a16:creationId xmlns:a16="http://schemas.microsoft.com/office/drawing/2014/main" id="{8DFC64D8-0741-4810-807D-3D0E21F1A2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905000"/>
            <a:ext cx="0" cy="1752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D"/>
          </a:p>
        </p:txBody>
      </p:sp>
      <p:sp>
        <p:nvSpPr>
          <p:cNvPr id="35846" name="Text Box 5">
            <a:extLst>
              <a:ext uri="{FF2B5EF4-FFF2-40B4-BE49-F238E27FC236}">
                <a16:creationId xmlns:a16="http://schemas.microsoft.com/office/drawing/2014/main" id="{7457E940-FC86-4A8F-8F75-BCD21C068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1905000"/>
            <a:ext cx="4191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This graph is not the graph of a function because you can draw a vertical line which crosses it twice.</a:t>
            </a:r>
          </a:p>
        </p:txBody>
      </p:sp>
      <p:pic>
        <p:nvPicPr>
          <p:cNvPr id="35847" name="Picture 6" descr="SINE">
            <a:extLst>
              <a:ext uri="{FF2B5EF4-FFF2-40B4-BE49-F238E27FC236}">
                <a16:creationId xmlns:a16="http://schemas.microsoft.com/office/drawing/2014/main" id="{3637D457-4630-47C6-8760-BB5DA7E4B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419600"/>
            <a:ext cx="2590800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8" name="Line 7">
            <a:extLst>
              <a:ext uri="{FF2B5EF4-FFF2-40B4-BE49-F238E27FC236}">
                <a16:creationId xmlns:a16="http://schemas.microsoft.com/office/drawing/2014/main" id="{9C2ADA6D-D8B5-4FE4-B48B-25D29E397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419600"/>
            <a:ext cx="0" cy="1752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D"/>
          </a:p>
        </p:txBody>
      </p:sp>
      <p:sp>
        <p:nvSpPr>
          <p:cNvPr id="35849" name="Text Box 8">
            <a:extLst>
              <a:ext uri="{FF2B5EF4-FFF2-40B4-BE49-F238E27FC236}">
                <a16:creationId xmlns:a16="http://schemas.microsoft.com/office/drawing/2014/main" id="{5FD756BB-320B-43CB-A289-963DFDC38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419600"/>
            <a:ext cx="3810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This is the graph of a function because any vertical line crosses only once.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Footer Placeholder 3">
            <a:extLst>
              <a:ext uri="{FF2B5EF4-FFF2-40B4-BE49-F238E27FC236}">
                <a16:creationId xmlns:a16="http://schemas.microsoft.com/office/drawing/2014/main" id="{091BAF9A-1914-417E-85B8-EC9F7DB758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AD0ADA49-C95A-49C0-8A9C-2BBB0478EF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Function Notation</a:t>
            </a:r>
            <a:endParaRPr kumimoji="1" lang="en-US" altLang="en-US">
              <a:solidFill>
                <a:srgbClr val="FF0000"/>
              </a:solidFill>
            </a:endParaRPr>
          </a:p>
        </p:txBody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5B7A8F39-B84C-4C7F-9381-3E9E78DC49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kumimoji="1" lang="en-US" altLang="en-US">
                <a:solidFill>
                  <a:srgbClr val="221104"/>
                </a:solidFill>
              </a:rPr>
              <a:t>The following notation is used to describe functions. The variable </a:t>
            </a:r>
            <a:r>
              <a:rPr kumimoji="1" lang="en-US" altLang="en-US" i="1">
                <a:solidFill>
                  <a:srgbClr val="221104"/>
                </a:solidFill>
              </a:rPr>
              <a:t>y</a:t>
            </a:r>
            <a:r>
              <a:rPr kumimoji="1" lang="en-US" altLang="en-US">
                <a:solidFill>
                  <a:srgbClr val="221104"/>
                </a:solidFill>
              </a:rPr>
              <a:t> will now be called </a:t>
            </a:r>
            <a:r>
              <a:rPr kumimoji="1" lang="en-US" altLang="en-US" i="1">
                <a:solidFill>
                  <a:srgbClr val="221104"/>
                </a:solidFill>
              </a:rPr>
              <a:t>f </a:t>
            </a:r>
            <a:r>
              <a:rPr kumimoji="1" lang="en-US" altLang="en-US">
                <a:solidFill>
                  <a:srgbClr val="221104"/>
                </a:solidFill>
              </a:rPr>
              <a:t>(</a:t>
            </a:r>
            <a:r>
              <a:rPr kumimoji="1" lang="en-US" altLang="en-US" i="1">
                <a:solidFill>
                  <a:srgbClr val="221104"/>
                </a:solidFill>
              </a:rPr>
              <a:t>x</a:t>
            </a:r>
            <a:r>
              <a:rPr kumimoji="1" lang="en-US" altLang="en-US">
                <a:solidFill>
                  <a:srgbClr val="221104"/>
                </a:solidFill>
              </a:rPr>
              <a:t>).</a:t>
            </a:r>
          </a:p>
          <a:p>
            <a:pPr>
              <a:lnSpc>
                <a:spcPct val="90000"/>
              </a:lnSpc>
            </a:pPr>
            <a:endParaRPr kumimoji="1" lang="en-US" altLang="en-US">
              <a:solidFill>
                <a:srgbClr val="221104"/>
              </a:solidFill>
            </a:endParaRPr>
          </a:p>
          <a:p>
            <a:pPr>
              <a:lnSpc>
                <a:spcPct val="90000"/>
              </a:lnSpc>
            </a:pPr>
            <a:r>
              <a:rPr kumimoji="1" lang="en-US" altLang="en-US">
                <a:solidFill>
                  <a:srgbClr val="221104"/>
                </a:solidFill>
              </a:rPr>
              <a:t>This is read as “ </a:t>
            </a:r>
            <a:r>
              <a:rPr kumimoji="1" lang="en-US" altLang="en-US" i="1">
                <a:solidFill>
                  <a:srgbClr val="221104"/>
                </a:solidFill>
              </a:rPr>
              <a:t>f</a:t>
            </a:r>
            <a:r>
              <a:rPr kumimoji="1" lang="en-US" altLang="en-US">
                <a:solidFill>
                  <a:srgbClr val="221104"/>
                </a:solidFill>
              </a:rPr>
              <a:t> of </a:t>
            </a:r>
            <a:r>
              <a:rPr kumimoji="1" lang="en-US" altLang="en-US" i="1">
                <a:solidFill>
                  <a:srgbClr val="221104"/>
                </a:solidFill>
              </a:rPr>
              <a:t>x</a:t>
            </a:r>
            <a:r>
              <a:rPr kumimoji="1" lang="en-US" altLang="en-US">
                <a:solidFill>
                  <a:srgbClr val="221104"/>
                </a:solidFill>
              </a:rPr>
              <a:t>” and simply means the </a:t>
            </a:r>
            <a:r>
              <a:rPr kumimoji="1" lang="en-US" altLang="en-US" i="1">
                <a:solidFill>
                  <a:srgbClr val="221104"/>
                </a:solidFill>
              </a:rPr>
              <a:t>y</a:t>
            </a:r>
            <a:r>
              <a:rPr kumimoji="1" lang="en-US" altLang="en-US">
                <a:solidFill>
                  <a:srgbClr val="221104"/>
                </a:solidFill>
              </a:rPr>
              <a:t> coordinate of the function corresponding to a given </a:t>
            </a:r>
            <a:r>
              <a:rPr kumimoji="1" lang="en-US" altLang="en-US" i="1">
                <a:solidFill>
                  <a:srgbClr val="221104"/>
                </a:solidFill>
              </a:rPr>
              <a:t>x</a:t>
            </a:r>
            <a:r>
              <a:rPr kumimoji="1" lang="en-US" altLang="en-US">
                <a:solidFill>
                  <a:srgbClr val="221104"/>
                </a:solidFill>
              </a:rPr>
              <a:t> value.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en-US">
                <a:solidFill>
                  <a:srgbClr val="221104"/>
                </a:solidFill>
              </a:rPr>
              <a:t>	Our previous equation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kumimoji="1" lang="en-US" altLang="en-US">
              <a:solidFill>
                <a:srgbClr val="221104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en-US">
                <a:solidFill>
                  <a:srgbClr val="221104"/>
                </a:solidFill>
              </a:rPr>
              <a:t>	can now be expressed as</a:t>
            </a:r>
            <a:r>
              <a:rPr kumimoji="1" lang="en-US" altLang="en-US">
                <a:solidFill>
                  <a:srgbClr val="CA5622"/>
                </a:solidFill>
              </a:rPr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kumimoji="1" lang="en-US" altLang="en-US">
              <a:solidFill>
                <a:srgbClr val="CA5622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kumimoji="1" lang="en-US" altLang="en-US" sz="1800">
              <a:solidFill>
                <a:srgbClr val="CA5622"/>
              </a:solidFill>
            </a:endParaRPr>
          </a:p>
        </p:txBody>
      </p:sp>
      <p:graphicFrame>
        <p:nvGraphicFramePr>
          <p:cNvPr id="36866" name="Object 2">
            <a:extLst>
              <a:ext uri="{FF2B5EF4-FFF2-40B4-BE49-F238E27FC236}">
                <a16:creationId xmlns:a16="http://schemas.microsoft.com/office/drawing/2014/main" id="{69550002-9FFE-4248-B96F-0BB0B22827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4114800"/>
          <a:ext cx="16002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3" name="Equation" r:id="rId4" imgW="634680" imgH="228600" progId="Equation.DSMT4">
                  <p:embed/>
                </p:oleObj>
              </mc:Choice>
              <mc:Fallback>
                <p:oleObj name="Equation" r:id="rId4" imgW="63468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114800"/>
                        <a:ext cx="16002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3">
            <a:extLst>
              <a:ext uri="{FF2B5EF4-FFF2-40B4-BE49-F238E27FC236}">
                <a16:creationId xmlns:a16="http://schemas.microsoft.com/office/drawing/2014/main" id="{58153110-EF20-43B3-8D70-3C3998FEDA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5334000"/>
          <a:ext cx="21336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4" name="Equation" r:id="rId6" imgW="850680" imgH="228600" progId="Equation.DSMT4">
                  <p:embed/>
                </p:oleObj>
              </mc:Choice>
              <mc:Fallback>
                <p:oleObj name="Equation" r:id="rId6" imgW="85068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334000"/>
                        <a:ext cx="21336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Footer Placeholder 4">
            <a:extLst>
              <a:ext uri="{FF2B5EF4-FFF2-40B4-BE49-F238E27FC236}">
                <a16:creationId xmlns:a16="http://schemas.microsoft.com/office/drawing/2014/main" id="{3ECC2865-AB6D-41A7-ADB5-3B867477B8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430BCBB4-BF6B-4E31-8E77-F948DEB12B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>
                <a:solidFill>
                  <a:srgbClr val="221104"/>
                </a:solidFill>
              </a:rPr>
              <a:t>Function Evaluation</a:t>
            </a:r>
            <a:endParaRPr kumimoji="1" lang="en-US" altLang="en-US">
              <a:solidFill>
                <a:srgbClr val="FF0000"/>
              </a:solidFill>
            </a:endParaRP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1DD11461-846C-4ABE-B554-320831EA61A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604125" cy="4114800"/>
          </a:xfrm>
        </p:spPr>
        <p:txBody>
          <a:bodyPr/>
          <a:lstStyle/>
          <a:p>
            <a:r>
              <a:rPr kumimoji="1" lang="en-US" altLang="en-US"/>
              <a:t>Consider our function</a:t>
            </a:r>
          </a:p>
          <a:p>
            <a:endParaRPr kumimoji="1" lang="en-US" altLang="en-US"/>
          </a:p>
          <a:p>
            <a:r>
              <a:rPr kumimoji="1" lang="en-US" altLang="en-US"/>
              <a:t>What does </a:t>
            </a:r>
            <a:r>
              <a:rPr kumimoji="1" lang="en-US" altLang="en-US" i="1"/>
              <a:t>f </a:t>
            </a:r>
            <a:r>
              <a:rPr kumimoji="1" lang="en-US" altLang="en-US"/>
              <a:t>(–3) mean? </a:t>
            </a:r>
            <a:br>
              <a:rPr kumimoji="1" lang="en-US" altLang="en-US"/>
            </a:br>
            <a:endParaRPr kumimoji="1" lang="en-US" altLang="en-US"/>
          </a:p>
        </p:txBody>
      </p:sp>
      <p:graphicFrame>
        <p:nvGraphicFramePr>
          <p:cNvPr id="38914" name="Object 2">
            <a:extLst>
              <a:ext uri="{FF2B5EF4-FFF2-40B4-BE49-F238E27FC236}">
                <a16:creationId xmlns:a16="http://schemas.microsoft.com/office/drawing/2014/main" id="{E6B36EEB-318F-49A9-892B-1403442559E2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4016375" y="2000250"/>
          <a:ext cx="17811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9" name="Equation" r:id="rId4" imgW="850680" imgH="228600" progId="Equation.DSMT4">
                  <p:embed/>
                </p:oleObj>
              </mc:Choice>
              <mc:Fallback>
                <p:oleObj name="Equation" r:id="rId4" imgW="85068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75" y="2000250"/>
                        <a:ext cx="178117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Footer Placeholder 4">
            <a:extLst>
              <a:ext uri="{FF2B5EF4-FFF2-40B4-BE49-F238E27FC236}">
                <a16:creationId xmlns:a16="http://schemas.microsoft.com/office/drawing/2014/main" id="{80438163-2C21-48B2-85CA-711569E424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D1AF4999-CF4E-49FC-8415-4DFBE43AC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>
                <a:solidFill>
                  <a:srgbClr val="221104"/>
                </a:solidFill>
              </a:rPr>
              <a:t>Function Evaluation</a:t>
            </a:r>
            <a:endParaRPr kumimoji="1" lang="en-US" altLang="en-US">
              <a:solidFill>
                <a:srgbClr val="FF0000"/>
              </a:solidFill>
            </a:endParaRPr>
          </a:p>
        </p:txBody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D8D06F01-56C8-470A-BEC8-7CC6D04856D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604125" cy="4114800"/>
          </a:xfrm>
        </p:spPr>
        <p:txBody>
          <a:bodyPr/>
          <a:lstStyle/>
          <a:p>
            <a:r>
              <a:rPr kumimoji="1" lang="en-US" altLang="en-US"/>
              <a:t>Consider our function</a:t>
            </a:r>
          </a:p>
          <a:p>
            <a:endParaRPr kumimoji="1" lang="en-US" altLang="en-US"/>
          </a:p>
          <a:p>
            <a:r>
              <a:rPr kumimoji="1" lang="en-US" altLang="en-US"/>
              <a:t>What does </a:t>
            </a:r>
            <a:r>
              <a:rPr kumimoji="1" lang="en-US" altLang="en-US" i="1"/>
              <a:t>f </a:t>
            </a:r>
            <a:r>
              <a:rPr kumimoji="1" lang="en-US" altLang="en-US"/>
              <a:t>(–3) mean? </a:t>
            </a:r>
            <a:br>
              <a:rPr kumimoji="1" lang="en-US" altLang="en-US"/>
            </a:br>
            <a:r>
              <a:rPr kumimoji="1" lang="en-US" altLang="en-US">
                <a:solidFill>
                  <a:srgbClr val="CC3300"/>
                </a:solidFill>
              </a:rPr>
              <a:t>Replace </a:t>
            </a:r>
            <a:r>
              <a:rPr kumimoji="1" lang="en-US" altLang="en-US" i="1">
                <a:solidFill>
                  <a:srgbClr val="CC3300"/>
                </a:solidFill>
              </a:rPr>
              <a:t>x</a:t>
            </a:r>
            <a:r>
              <a:rPr kumimoji="1" lang="en-US" altLang="en-US">
                <a:solidFill>
                  <a:srgbClr val="CC3300"/>
                </a:solidFill>
              </a:rPr>
              <a:t> with the value –3 and evaluate the expression </a:t>
            </a:r>
          </a:p>
          <a:p>
            <a:endParaRPr kumimoji="1" lang="en-US" altLang="en-US">
              <a:solidFill>
                <a:srgbClr val="CC3300"/>
              </a:solidFill>
            </a:endParaRPr>
          </a:p>
          <a:p>
            <a:endParaRPr kumimoji="1" lang="en-US" altLang="en-US"/>
          </a:p>
          <a:p>
            <a:r>
              <a:rPr kumimoji="1" lang="en-US" altLang="en-US">
                <a:solidFill>
                  <a:srgbClr val="CC3300"/>
                </a:solidFill>
              </a:rPr>
              <a:t>The result is 11 . This means that the point (–3,11) is on the graph of the function. </a:t>
            </a:r>
          </a:p>
        </p:txBody>
      </p:sp>
      <p:graphicFrame>
        <p:nvGraphicFramePr>
          <p:cNvPr id="40962" name="Object 2">
            <a:extLst>
              <a:ext uri="{FF2B5EF4-FFF2-40B4-BE49-F238E27FC236}">
                <a16:creationId xmlns:a16="http://schemas.microsoft.com/office/drawing/2014/main" id="{8A7E87E8-2BD8-433E-8AF4-6FF2C6911A03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4016375" y="2000250"/>
          <a:ext cx="17811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9" name="Equation" r:id="rId4" imgW="850680" imgH="228600" progId="Equation.DSMT4">
                  <p:embed/>
                </p:oleObj>
              </mc:Choice>
              <mc:Fallback>
                <p:oleObj name="Equation" r:id="rId4" imgW="85068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75" y="2000250"/>
                        <a:ext cx="178117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3">
            <a:extLst>
              <a:ext uri="{FF2B5EF4-FFF2-40B4-BE49-F238E27FC236}">
                <a16:creationId xmlns:a16="http://schemas.microsoft.com/office/drawing/2014/main" id="{371A6255-BF2B-4942-B3ED-F4656040A7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3733800"/>
          <a:ext cx="28384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0" name="Equation" r:id="rId6" imgW="1104840" imgH="228600" progId="Equation.DSMT4">
                  <p:embed/>
                </p:oleObj>
              </mc:Choice>
              <mc:Fallback>
                <p:oleObj name="Equation" r:id="rId6" imgW="110484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733800"/>
                        <a:ext cx="283845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4" name="Footer Placeholder 3">
            <a:extLst>
              <a:ext uri="{FF2B5EF4-FFF2-40B4-BE49-F238E27FC236}">
                <a16:creationId xmlns:a16="http://schemas.microsoft.com/office/drawing/2014/main" id="{480EBE3B-1816-47EE-B3A1-0591C59CFC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43015" name="Rectangle 2">
            <a:extLst>
              <a:ext uri="{FF2B5EF4-FFF2-40B4-BE49-F238E27FC236}">
                <a16:creationId xmlns:a16="http://schemas.microsoft.com/office/drawing/2014/main" id="{B90231F7-B417-4295-9FB5-83100FB1C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sz="3600">
                <a:solidFill>
                  <a:srgbClr val="221104"/>
                </a:solidFill>
              </a:rPr>
              <a:t>Some</a:t>
            </a:r>
            <a:r>
              <a:rPr kumimoji="1" lang="en-US" altLang="en-US">
                <a:solidFill>
                  <a:srgbClr val="221104"/>
                </a:solidFill>
              </a:rPr>
              <a:t> Examples</a:t>
            </a:r>
            <a:endParaRPr kumimoji="1" lang="en-US" altLang="en-US">
              <a:solidFill>
                <a:srgbClr val="4C2DBF"/>
              </a:solidFill>
            </a:endParaRPr>
          </a:p>
        </p:txBody>
      </p:sp>
      <p:sp>
        <p:nvSpPr>
          <p:cNvPr id="43016" name="Rectangle 3">
            <a:extLst>
              <a:ext uri="{FF2B5EF4-FFF2-40B4-BE49-F238E27FC236}">
                <a16:creationId xmlns:a16="http://schemas.microsoft.com/office/drawing/2014/main" id="{A1957C77-DD42-48B8-A710-8347B0F03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/>
              <a:t>1. </a:t>
            </a:r>
          </a:p>
        </p:txBody>
      </p:sp>
      <p:graphicFrame>
        <p:nvGraphicFramePr>
          <p:cNvPr id="43010" name="Object 2">
            <a:extLst>
              <a:ext uri="{FF2B5EF4-FFF2-40B4-BE49-F238E27FC236}">
                <a16:creationId xmlns:a16="http://schemas.microsoft.com/office/drawing/2014/main" id="{FFD1C558-793F-4C4F-BB41-4D48732E40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3810000"/>
          <a:ext cx="31242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1" name="Equation" r:id="rId4" imgW="1079032" imgH="253890" progId="Equation.DSMT4">
                  <p:embed/>
                </p:oleObj>
              </mc:Choice>
              <mc:Fallback>
                <p:oleObj name="Equation" r:id="rId4" imgW="1079032" imgH="25389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810000"/>
                        <a:ext cx="3124200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" name="Object 3">
            <a:extLst>
              <a:ext uri="{FF2B5EF4-FFF2-40B4-BE49-F238E27FC236}">
                <a16:creationId xmlns:a16="http://schemas.microsoft.com/office/drawing/2014/main" id="{EFBD4022-F52A-4041-ABEB-67B0C94CC7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4724400"/>
          <a:ext cx="6335713" cy="141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2" name="Equation" r:id="rId6" imgW="2451100" imgH="546100" progId="Equation.DSMT4">
                  <p:embed/>
                </p:oleObj>
              </mc:Choice>
              <mc:Fallback>
                <p:oleObj name="Equation" r:id="rId6" imgW="2451100" imgH="546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724400"/>
                        <a:ext cx="6335713" cy="141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>
            <a:extLst>
              <a:ext uri="{FF2B5EF4-FFF2-40B4-BE49-F238E27FC236}">
                <a16:creationId xmlns:a16="http://schemas.microsoft.com/office/drawing/2014/main" id="{DBCF9EE4-28FA-4E8B-BC32-9B7CA88B50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2819400"/>
          <a:ext cx="485933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3" name="Equation" r:id="rId8" imgW="1676400" imgH="279400" progId="Equation.DSMT4">
                  <p:embed/>
                </p:oleObj>
              </mc:Choice>
              <mc:Fallback>
                <p:oleObj name="Equation" r:id="rId8" imgW="1676400" imgH="279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819400"/>
                        <a:ext cx="4859338" cy="827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>
            <a:extLst>
              <a:ext uri="{FF2B5EF4-FFF2-40B4-BE49-F238E27FC236}">
                <a16:creationId xmlns:a16="http://schemas.microsoft.com/office/drawing/2014/main" id="{3CFC1C75-3768-4EA3-A703-75552BBB40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1905000"/>
          <a:ext cx="28702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4" name="Equation" r:id="rId10" imgW="990600" imgH="266700" progId="Equation.DSMT4">
                  <p:embed/>
                </p:oleObj>
              </mc:Choice>
              <mc:Fallback>
                <p:oleObj name="Equation" r:id="rId10" imgW="990600" imgH="266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905000"/>
                        <a:ext cx="2870200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Footer Placeholder 3">
            <a:extLst>
              <a:ext uri="{FF2B5EF4-FFF2-40B4-BE49-F238E27FC236}">
                <a16:creationId xmlns:a16="http://schemas.microsoft.com/office/drawing/2014/main" id="{1856DFED-47F2-413F-B488-E9DA07A250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551C952E-95C8-4123-9001-CEE795D89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>
                <a:solidFill>
                  <a:srgbClr val="221104"/>
                </a:solidFill>
              </a:rPr>
              <a:t>Domain of a Function</a:t>
            </a:r>
            <a:endParaRPr kumimoji="1" lang="en-US" altLang="en-US">
              <a:solidFill>
                <a:srgbClr val="4C2DBF"/>
              </a:solidFill>
            </a:endParaRPr>
          </a:p>
        </p:txBody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47DAEFF0-1170-4E35-84A2-07D897854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/>
              <a:t>Consider </a:t>
            </a:r>
          </a:p>
          <a:p>
            <a:endParaRPr kumimoji="1" lang="en-US" altLang="en-US"/>
          </a:p>
          <a:p>
            <a:endParaRPr kumimoji="1" lang="en-US" altLang="en-US"/>
          </a:p>
          <a:p>
            <a:endParaRPr kumimoji="1" lang="en-US" altLang="en-US"/>
          </a:p>
          <a:p>
            <a:endParaRPr kumimoji="1" lang="en-US" altLang="en-US"/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en-US"/>
              <a:t>    </a:t>
            </a:r>
            <a:br>
              <a:rPr kumimoji="1" lang="en-US" altLang="en-US"/>
            </a:br>
            <a:r>
              <a:rPr kumimoji="1" lang="en-US" altLang="en-US">
                <a:solidFill>
                  <a:srgbClr val="221104"/>
                </a:solidFill>
              </a:rPr>
              <a:t>which is not a real number. </a:t>
            </a:r>
          </a:p>
          <a:p>
            <a:r>
              <a:rPr kumimoji="1" lang="en-US" altLang="en-US" b="1">
                <a:solidFill>
                  <a:srgbClr val="221104"/>
                </a:solidFill>
              </a:rPr>
              <a:t>Question:</a:t>
            </a:r>
            <a:r>
              <a:rPr kumimoji="1" lang="en-US" altLang="en-US">
                <a:solidFill>
                  <a:srgbClr val="221104"/>
                </a:solidFill>
              </a:rPr>
              <a:t> for what values of </a:t>
            </a:r>
            <a:r>
              <a:rPr kumimoji="1" lang="en-US" altLang="en-US" i="1">
                <a:solidFill>
                  <a:srgbClr val="221104"/>
                </a:solidFill>
              </a:rPr>
              <a:t>x</a:t>
            </a:r>
            <a:r>
              <a:rPr kumimoji="1" lang="en-US" altLang="en-US">
                <a:solidFill>
                  <a:srgbClr val="221104"/>
                </a:solidFill>
              </a:rPr>
              <a:t> is the function defined?</a:t>
            </a:r>
            <a:endParaRPr kumimoji="1" lang="en-US" altLang="en-US">
              <a:solidFill>
                <a:srgbClr val="4C2DBF"/>
              </a:solidFill>
            </a:endParaRPr>
          </a:p>
        </p:txBody>
      </p:sp>
      <p:graphicFrame>
        <p:nvGraphicFramePr>
          <p:cNvPr id="45058" name="Object 2">
            <a:extLst>
              <a:ext uri="{FF2B5EF4-FFF2-40B4-BE49-F238E27FC236}">
                <a16:creationId xmlns:a16="http://schemas.microsoft.com/office/drawing/2014/main" id="{895FB080-AB24-4E6C-9F0E-7334398A32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1905000"/>
          <a:ext cx="3048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5" name="Equation" r:id="rId4" imgW="965160" imgH="241200" progId="Equation.DSMT4">
                  <p:embed/>
                </p:oleObj>
              </mc:Choice>
              <mc:Fallback>
                <p:oleObj name="Equation" r:id="rId4" imgW="965160" imgH="24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05000"/>
                        <a:ext cx="3048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>
            <a:extLst>
              <a:ext uri="{FF2B5EF4-FFF2-40B4-BE49-F238E27FC236}">
                <a16:creationId xmlns:a16="http://schemas.microsoft.com/office/drawing/2014/main" id="{B7EDD795-24A8-40EA-8031-7D833A9239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819400"/>
          <a:ext cx="4648200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6" name="Equation" r:id="rId6" imgW="1485720" imgH="482400" progId="Equation.DSMT4">
                  <p:embed/>
                </p:oleObj>
              </mc:Choice>
              <mc:Fallback>
                <p:oleObj name="Equation" r:id="rId6" imgW="1485720" imgH="482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819400"/>
                        <a:ext cx="4648200" cy="151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Footer Placeholder 3">
            <a:extLst>
              <a:ext uri="{FF2B5EF4-FFF2-40B4-BE49-F238E27FC236}">
                <a16:creationId xmlns:a16="http://schemas.microsoft.com/office/drawing/2014/main" id="{F9300EDA-B14B-41D7-8E0C-8923863764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47109" name="Rectangle 2">
            <a:extLst>
              <a:ext uri="{FF2B5EF4-FFF2-40B4-BE49-F238E27FC236}">
                <a16:creationId xmlns:a16="http://schemas.microsoft.com/office/drawing/2014/main" id="{7E43CB6F-52F7-4A53-9CE7-B3193584B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Domain of a Function</a:t>
            </a:r>
          </a:p>
        </p:txBody>
      </p:sp>
      <p:sp>
        <p:nvSpPr>
          <p:cNvPr id="47110" name="Rectangle 3">
            <a:extLst>
              <a:ext uri="{FF2B5EF4-FFF2-40B4-BE49-F238E27FC236}">
                <a16:creationId xmlns:a16="http://schemas.microsoft.com/office/drawing/2014/main" id="{7DDDD40B-1B43-45AA-9647-EEACDD98CD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>
                <a:solidFill>
                  <a:srgbClr val="CC3300"/>
                </a:solidFill>
              </a:rPr>
              <a:t>Answer:</a:t>
            </a:r>
            <a:r>
              <a:rPr kumimoji="1" lang="en-US" altLang="en-US" sz="2000">
                <a:solidFill>
                  <a:srgbClr val="CC3300"/>
                </a:solidFill>
              </a:rPr>
              <a:t> </a:t>
            </a:r>
          </a:p>
          <a:p>
            <a:endParaRPr kumimoji="1" lang="en-US" altLang="en-US" sz="2000">
              <a:solidFill>
                <a:srgbClr val="CC33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en-US" sz="2000"/>
              <a:t> </a:t>
            </a:r>
          </a:p>
          <a:p>
            <a:pPr>
              <a:buFont typeface="Wingdings" panose="05000000000000000000" pitchFamily="2" charset="2"/>
              <a:buNone/>
            </a:pPr>
            <a:endParaRPr kumimoji="1" lang="en-US" altLang="en-US" sz="2000"/>
          </a:p>
          <a:p>
            <a:endParaRPr kumimoji="1" lang="en-US" altLang="en-US" sz="2000"/>
          </a:p>
          <a:p>
            <a:endParaRPr kumimoji="1" lang="en-US" altLang="en-US" sz="2000"/>
          </a:p>
        </p:txBody>
      </p:sp>
      <p:sp>
        <p:nvSpPr>
          <p:cNvPr id="47111" name="Rectangle 4">
            <a:extLst>
              <a:ext uri="{FF2B5EF4-FFF2-40B4-BE49-F238E27FC236}">
                <a16:creationId xmlns:a16="http://schemas.microsoft.com/office/drawing/2014/main" id="{43A8B84C-4C47-4B25-8459-D8A309F0F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3" y="3413125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47112" name="Text Box 5">
            <a:extLst>
              <a:ext uri="{FF2B5EF4-FFF2-40B4-BE49-F238E27FC236}">
                <a16:creationId xmlns:a16="http://schemas.microsoft.com/office/drawing/2014/main" id="{941E3B45-D888-4947-A3AC-D3A5CF1E6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971800"/>
            <a:ext cx="6858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is defined only when the radicand (3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 – 2) is equal to or greater than zero. This implies that</a:t>
            </a:r>
          </a:p>
        </p:txBody>
      </p:sp>
      <p:graphicFrame>
        <p:nvGraphicFramePr>
          <p:cNvPr id="47106" name="Object 2">
            <a:extLst>
              <a:ext uri="{FF2B5EF4-FFF2-40B4-BE49-F238E27FC236}">
                <a16:creationId xmlns:a16="http://schemas.microsoft.com/office/drawing/2014/main" id="{57A6C6A8-1589-4749-ADD6-2360C228A0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1905000"/>
          <a:ext cx="3048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5" name="Equation" r:id="rId4" imgW="965160" imgH="241200" progId="Equation.DSMT4">
                  <p:embed/>
                </p:oleObj>
              </mc:Choice>
              <mc:Fallback>
                <p:oleObj name="Equation" r:id="rId4" imgW="965160" imgH="24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05000"/>
                        <a:ext cx="3048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7" name="Object 3">
            <a:extLst>
              <a:ext uri="{FF2B5EF4-FFF2-40B4-BE49-F238E27FC236}">
                <a16:creationId xmlns:a16="http://schemas.microsoft.com/office/drawing/2014/main" id="{F5E3E0A8-2093-496D-8CF0-D1B38A0009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41738" y="4079875"/>
          <a:ext cx="1203325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6" name="Equation" r:id="rId6" imgW="381000" imgH="406400" progId="Equation.DSMT4">
                  <p:embed/>
                </p:oleObj>
              </mc:Choice>
              <mc:Fallback>
                <p:oleObj name="Equation" r:id="rId6" imgW="381000" imgH="406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1738" y="4079875"/>
                        <a:ext cx="1203325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Footer Placeholder 3">
            <a:extLst>
              <a:ext uri="{FF2B5EF4-FFF2-40B4-BE49-F238E27FC236}">
                <a16:creationId xmlns:a16="http://schemas.microsoft.com/office/drawing/2014/main" id="{918FCFF0-A7E9-4B42-A3ED-029CC2A77C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FCD23656-3D9E-4DA8-940A-86EC48A26F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>
                <a:solidFill>
                  <a:schemeClr val="tx1"/>
                </a:solidFill>
              </a:rPr>
              <a:t>Domain of a Function</a:t>
            </a:r>
            <a:br>
              <a:rPr kumimoji="1" lang="en-US" altLang="en-US">
                <a:solidFill>
                  <a:schemeClr val="tx1"/>
                </a:solidFill>
              </a:rPr>
            </a:br>
            <a:r>
              <a:rPr kumimoji="1" lang="en-US" altLang="en-US">
                <a:solidFill>
                  <a:schemeClr val="tx1"/>
                </a:solidFill>
              </a:rPr>
              <a:t>(continued)</a:t>
            </a:r>
            <a:endParaRPr kumimoji="1" lang="en-US" altLang="en-US">
              <a:solidFill>
                <a:srgbClr val="990000"/>
              </a:solidFill>
            </a:endParaRPr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4CC93CFB-F562-47AB-A9EC-F7F872F9BD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>
                <a:solidFill>
                  <a:srgbClr val="CC3300"/>
                </a:solidFill>
              </a:rPr>
              <a:t>Therefore, the domain of our function is the set of real numbers that are greater than or equal to 2/3.</a:t>
            </a:r>
          </a:p>
          <a:p>
            <a:endParaRPr kumimoji="1" lang="en-US" altLang="en-US">
              <a:solidFill>
                <a:srgbClr val="CC3300"/>
              </a:solidFill>
            </a:endParaRPr>
          </a:p>
          <a:p>
            <a:r>
              <a:rPr kumimoji="1" lang="en-US" altLang="en-US" b="1"/>
              <a:t>Example:</a:t>
            </a:r>
            <a:r>
              <a:rPr kumimoji="1" lang="en-US" altLang="en-US"/>
              <a:t> Find the domain of the function</a:t>
            </a:r>
          </a:p>
          <a:p>
            <a:endParaRPr kumimoji="1" lang="en-US" altLang="en-US"/>
          </a:p>
        </p:txBody>
      </p:sp>
      <p:graphicFrame>
        <p:nvGraphicFramePr>
          <p:cNvPr id="49154" name="Object 2">
            <a:extLst>
              <a:ext uri="{FF2B5EF4-FFF2-40B4-BE49-F238E27FC236}">
                <a16:creationId xmlns:a16="http://schemas.microsoft.com/office/drawing/2014/main" id="{0968A824-2857-48B6-954B-8FE8A2CB9D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3657600"/>
          <a:ext cx="25908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9" name="Equation" r:id="rId4" imgW="1015920" imgH="444240" progId="Equation.DSMT4">
                  <p:embed/>
                </p:oleObj>
              </mc:Choice>
              <mc:Fallback>
                <p:oleObj name="Equation" r:id="rId4" imgW="1015920" imgH="444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657600"/>
                        <a:ext cx="2590800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Footer Placeholder 3">
            <a:extLst>
              <a:ext uri="{FF2B5EF4-FFF2-40B4-BE49-F238E27FC236}">
                <a16:creationId xmlns:a16="http://schemas.microsoft.com/office/drawing/2014/main" id="{F7C52BCA-EBDF-4D1F-A42A-65B68346A0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51205" name="Rectangle 2">
            <a:extLst>
              <a:ext uri="{FF2B5EF4-FFF2-40B4-BE49-F238E27FC236}">
                <a16:creationId xmlns:a16="http://schemas.microsoft.com/office/drawing/2014/main" id="{5CE62A1E-094F-4904-9E2B-EAB12092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>
                <a:solidFill>
                  <a:schemeClr val="tx1"/>
                </a:solidFill>
              </a:rPr>
              <a:t>Domain of a Function</a:t>
            </a:r>
            <a:br>
              <a:rPr kumimoji="1" lang="en-US" altLang="en-US">
                <a:solidFill>
                  <a:schemeClr val="tx1"/>
                </a:solidFill>
              </a:rPr>
            </a:br>
            <a:r>
              <a:rPr kumimoji="1" lang="en-US" altLang="en-US">
                <a:solidFill>
                  <a:schemeClr val="tx1"/>
                </a:solidFill>
              </a:rPr>
              <a:t>(continued)</a:t>
            </a:r>
            <a:endParaRPr kumimoji="1" lang="en-US" altLang="en-US">
              <a:solidFill>
                <a:srgbClr val="990000"/>
              </a:solidFill>
            </a:endParaRPr>
          </a:p>
        </p:txBody>
      </p:sp>
      <p:sp>
        <p:nvSpPr>
          <p:cNvPr id="51206" name="Rectangle 3">
            <a:extLst>
              <a:ext uri="{FF2B5EF4-FFF2-40B4-BE49-F238E27FC236}">
                <a16:creationId xmlns:a16="http://schemas.microsoft.com/office/drawing/2014/main" id="{36BBCD9A-950B-4720-BF51-C34B29F5F6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>
                <a:solidFill>
                  <a:srgbClr val="CC3300"/>
                </a:solidFill>
              </a:rPr>
              <a:t>Therefore, the domain of our function is the set of real numbers that are greater than or equal to 2/3.</a:t>
            </a:r>
          </a:p>
          <a:p>
            <a:endParaRPr kumimoji="1" lang="en-US" altLang="en-US">
              <a:solidFill>
                <a:srgbClr val="CC3300"/>
              </a:solidFill>
            </a:endParaRPr>
          </a:p>
          <a:p>
            <a:r>
              <a:rPr kumimoji="1" lang="en-US" altLang="en-US" b="1"/>
              <a:t>Example:</a:t>
            </a:r>
            <a:r>
              <a:rPr kumimoji="1" lang="en-US" altLang="en-US"/>
              <a:t> Find the domain of the function</a:t>
            </a:r>
          </a:p>
          <a:p>
            <a:endParaRPr kumimoji="1" lang="en-US" altLang="en-US"/>
          </a:p>
          <a:p>
            <a:endParaRPr kumimoji="1" lang="en-US" altLang="en-US"/>
          </a:p>
          <a:p>
            <a:endParaRPr kumimoji="1" lang="en-US" altLang="en-US"/>
          </a:p>
          <a:p>
            <a:r>
              <a:rPr kumimoji="1" lang="en-US" altLang="en-US" b="1">
                <a:solidFill>
                  <a:srgbClr val="CC3300"/>
                </a:solidFill>
              </a:rPr>
              <a:t>Answer:</a:t>
            </a:r>
            <a:r>
              <a:rPr kumimoji="1" lang="en-US" altLang="en-US">
                <a:solidFill>
                  <a:srgbClr val="CC3300"/>
                </a:solidFill>
              </a:rPr>
              <a:t> </a:t>
            </a:r>
          </a:p>
          <a:p>
            <a:endParaRPr kumimoji="1" lang="en-US" altLang="en-US">
              <a:solidFill>
                <a:srgbClr val="CC3300"/>
              </a:solidFill>
            </a:endParaRPr>
          </a:p>
        </p:txBody>
      </p:sp>
      <p:graphicFrame>
        <p:nvGraphicFramePr>
          <p:cNvPr id="51202" name="Object 2">
            <a:extLst>
              <a:ext uri="{FF2B5EF4-FFF2-40B4-BE49-F238E27FC236}">
                <a16:creationId xmlns:a16="http://schemas.microsoft.com/office/drawing/2014/main" id="{4AF394F9-E57C-4661-8311-057A8E0954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3657600"/>
          <a:ext cx="25908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9" name="Equation" r:id="rId4" imgW="1015920" imgH="444240" progId="Equation.DSMT4">
                  <p:embed/>
                </p:oleObj>
              </mc:Choice>
              <mc:Fallback>
                <p:oleObj name="Equation" r:id="rId4" imgW="1015920" imgH="444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657600"/>
                        <a:ext cx="2590800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3" name="Object 3">
            <a:extLst>
              <a:ext uri="{FF2B5EF4-FFF2-40B4-BE49-F238E27FC236}">
                <a16:creationId xmlns:a16="http://schemas.microsoft.com/office/drawing/2014/main" id="{3C394B62-198D-49D0-AD50-C24C5BB493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5257800"/>
          <a:ext cx="29718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0" name="Equation" r:id="rId6" imgW="1054080" imgH="279360" progId="Equation.DSMT4">
                  <p:embed/>
                </p:oleObj>
              </mc:Choice>
              <mc:Fallback>
                <p:oleObj name="Equation" r:id="rId6" imgW="1054080" imgH="2793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257800"/>
                        <a:ext cx="297180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Footer Placeholder 3">
            <a:extLst>
              <a:ext uri="{FF2B5EF4-FFF2-40B4-BE49-F238E27FC236}">
                <a16:creationId xmlns:a16="http://schemas.microsoft.com/office/drawing/2014/main" id="{442DBDC6-FAEF-4B0D-A4CF-F3BB206934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60B1234D-EB5F-46FA-B4A4-ACF7317CB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>
                <a:solidFill>
                  <a:schemeClr val="tx1"/>
                </a:solidFill>
              </a:rPr>
              <a:t>Domain of a Function</a:t>
            </a:r>
            <a:r>
              <a:rPr kumimoji="1" lang="en-US" altLang="en-US">
                <a:solidFill>
                  <a:srgbClr val="221104"/>
                </a:solidFill>
              </a:rPr>
              <a:t>:</a:t>
            </a:r>
            <a:br>
              <a:rPr kumimoji="1" lang="en-US" altLang="en-US">
                <a:solidFill>
                  <a:srgbClr val="221104"/>
                </a:solidFill>
              </a:rPr>
            </a:br>
            <a:r>
              <a:rPr kumimoji="1" lang="en-US" altLang="en-US">
                <a:solidFill>
                  <a:srgbClr val="221104"/>
                </a:solidFill>
              </a:rPr>
              <a:t>Another Example</a:t>
            </a: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DAA87F4E-19B5-4212-889E-1755674F9A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724150"/>
          </a:xfrm>
        </p:spPr>
        <p:txBody>
          <a:bodyPr/>
          <a:lstStyle/>
          <a:p>
            <a:r>
              <a:rPr kumimoji="1" lang="en-US" altLang="en-US"/>
              <a:t>Find the domain of</a:t>
            </a:r>
          </a:p>
        </p:txBody>
      </p:sp>
      <p:graphicFrame>
        <p:nvGraphicFramePr>
          <p:cNvPr id="53250" name="Object 2">
            <a:extLst>
              <a:ext uri="{FF2B5EF4-FFF2-40B4-BE49-F238E27FC236}">
                <a16:creationId xmlns:a16="http://schemas.microsoft.com/office/drawing/2014/main" id="{2FC1B85E-1853-4178-AE1A-0575A92680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1981200"/>
          <a:ext cx="20574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5" name="Equation" r:id="rId4" imgW="863280" imgH="393480" progId="Equation.DSMT4">
                  <p:embed/>
                </p:oleObj>
              </mc:Choice>
              <mc:Fallback>
                <p:oleObj name="Equation" r:id="rId4" imgW="863280" imgH="393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981200"/>
                        <a:ext cx="20574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Footer Placeholder 3">
            <a:extLst>
              <a:ext uri="{FF2B5EF4-FFF2-40B4-BE49-F238E27FC236}">
                <a16:creationId xmlns:a16="http://schemas.microsoft.com/office/drawing/2014/main" id="{BA90E245-C7A1-4D96-B8BA-14ECEE060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55300" name="Rectangle 2">
            <a:extLst>
              <a:ext uri="{FF2B5EF4-FFF2-40B4-BE49-F238E27FC236}">
                <a16:creationId xmlns:a16="http://schemas.microsoft.com/office/drawing/2014/main" id="{5B756A0C-A734-419C-B00C-A6142F526F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>
                <a:solidFill>
                  <a:schemeClr val="tx1"/>
                </a:solidFill>
              </a:rPr>
              <a:t>Domain of a Function</a:t>
            </a:r>
            <a:r>
              <a:rPr kumimoji="1" lang="en-US" altLang="en-US">
                <a:solidFill>
                  <a:srgbClr val="221104"/>
                </a:solidFill>
              </a:rPr>
              <a:t>:</a:t>
            </a:r>
            <a:br>
              <a:rPr kumimoji="1" lang="en-US" altLang="en-US">
                <a:solidFill>
                  <a:srgbClr val="221104"/>
                </a:solidFill>
              </a:rPr>
            </a:br>
            <a:r>
              <a:rPr kumimoji="1" lang="en-US" altLang="en-US">
                <a:solidFill>
                  <a:srgbClr val="221104"/>
                </a:solidFill>
              </a:rPr>
              <a:t>Another Example</a:t>
            </a:r>
          </a:p>
        </p:txBody>
      </p:sp>
      <p:sp>
        <p:nvSpPr>
          <p:cNvPr id="55301" name="Rectangle 3">
            <a:extLst>
              <a:ext uri="{FF2B5EF4-FFF2-40B4-BE49-F238E27FC236}">
                <a16:creationId xmlns:a16="http://schemas.microsoft.com/office/drawing/2014/main" id="{422DBC17-6519-49AE-A9FD-CB1B2551A7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724150"/>
          </a:xfrm>
        </p:spPr>
        <p:txBody>
          <a:bodyPr/>
          <a:lstStyle/>
          <a:p>
            <a:r>
              <a:rPr kumimoji="1" lang="en-US" altLang="en-US"/>
              <a:t>Find the domain of</a:t>
            </a:r>
          </a:p>
          <a:p>
            <a:endParaRPr kumimoji="1" lang="en-US" altLang="en-US"/>
          </a:p>
          <a:p>
            <a:endParaRPr kumimoji="1" lang="en-US" altLang="en-US"/>
          </a:p>
          <a:p>
            <a:r>
              <a:rPr kumimoji="1" lang="en-US" altLang="en-US">
                <a:solidFill>
                  <a:srgbClr val="CC3300"/>
                </a:solidFill>
              </a:rPr>
              <a:t>In this case, the function is defined for all values of </a:t>
            </a:r>
            <a:r>
              <a:rPr kumimoji="1" lang="en-US" altLang="en-US" i="1">
                <a:solidFill>
                  <a:srgbClr val="CC3300"/>
                </a:solidFill>
              </a:rPr>
              <a:t>x</a:t>
            </a:r>
            <a:r>
              <a:rPr kumimoji="1" lang="en-US" altLang="en-US">
                <a:solidFill>
                  <a:srgbClr val="CC3300"/>
                </a:solidFill>
              </a:rPr>
              <a:t> except where the denominator of the fraction is zero</a:t>
            </a:r>
            <a:r>
              <a:rPr kumimoji="1" lang="en-US" altLang="en-US" i="1">
                <a:solidFill>
                  <a:srgbClr val="CC3300"/>
                </a:solidFill>
              </a:rPr>
              <a:t>. </a:t>
            </a:r>
            <a:r>
              <a:rPr kumimoji="1" lang="en-US" altLang="en-US">
                <a:solidFill>
                  <a:srgbClr val="CC3300"/>
                </a:solidFill>
              </a:rPr>
              <a:t> This means all real numbers </a:t>
            </a:r>
            <a:r>
              <a:rPr kumimoji="1" lang="en-US" altLang="en-US" i="1">
                <a:solidFill>
                  <a:srgbClr val="CC3300"/>
                </a:solidFill>
              </a:rPr>
              <a:t>x</a:t>
            </a:r>
            <a:r>
              <a:rPr kumimoji="1" lang="en-US" altLang="en-US">
                <a:solidFill>
                  <a:srgbClr val="CC3300"/>
                </a:solidFill>
              </a:rPr>
              <a:t> except</a:t>
            </a:r>
            <a:r>
              <a:rPr kumimoji="1" lang="en-US" altLang="en-US" b="1" i="1">
                <a:solidFill>
                  <a:srgbClr val="CC3300"/>
                </a:solidFill>
              </a:rPr>
              <a:t> </a:t>
            </a:r>
            <a:r>
              <a:rPr kumimoji="1" lang="en-US" altLang="en-US">
                <a:solidFill>
                  <a:srgbClr val="CC3300"/>
                </a:solidFill>
              </a:rPr>
              <a:t>5/3.</a:t>
            </a:r>
          </a:p>
        </p:txBody>
      </p:sp>
      <p:graphicFrame>
        <p:nvGraphicFramePr>
          <p:cNvPr id="55298" name="Object 2">
            <a:extLst>
              <a:ext uri="{FF2B5EF4-FFF2-40B4-BE49-F238E27FC236}">
                <a16:creationId xmlns:a16="http://schemas.microsoft.com/office/drawing/2014/main" id="{C5E86FF6-024D-494B-B15F-6EB26537C0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1981200"/>
          <a:ext cx="20574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3" name="Equation" r:id="rId4" imgW="863280" imgH="393480" progId="Equation.DSMT4">
                  <p:embed/>
                </p:oleObj>
              </mc:Choice>
              <mc:Fallback>
                <p:oleObj name="Equation" r:id="rId4" imgW="863280" imgH="393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981200"/>
                        <a:ext cx="20574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Footer Placeholder 3">
            <a:extLst>
              <a:ext uri="{FF2B5EF4-FFF2-40B4-BE49-F238E27FC236}">
                <a16:creationId xmlns:a16="http://schemas.microsoft.com/office/drawing/2014/main" id="{F47A1231-A742-4BD1-9174-FC7011429F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57348" name="Rectangle 2">
            <a:extLst>
              <a:ext uri="{FF2B5EF4-FFF2-40B4-BE49-F238E27FC236}">
                <a16:creationId xmlns:a16="http://schemas.microsoft.com/office/drawing/2014/main" id="{5ED15270-24A4-49D6-A65D-5EDD699090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>
                <a:solidFill>
                  <a:schemeClr val="tx1"/>
                </a:solidFill>
              </a:rPr>
              <a:t>Mathematical Modeling</a:t>
            </a:r>
            <a:endParaRPr kumimoji="1" lang="en-US" altLang="en-US">
              <a:solidFill>
                <a:srgbClr val="990000"/>
              </a:solidFill>
            </a:endParaRPr>
          </a:p>
        </p:txBody>
      </p:sp>
      <p:sp>
        <p:nvSpPr>
          <p:cNvPr id="57349" name="Rectangle 3">
            <a:extLst>
              <a:ext uri="{FF2B5EF4-FFF2-40B4-BE49-F238E27FC236}">
                <a16:creationId xmlns:a16="http://schemas.microsoft.com/office/drawing/2014/main" id="{ACF34C51-0145-408B-BA00-1B9A37CC19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8178800" cy="417195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en-US"/>
              <a:t>The price-demand function for a company is given by</a:t>
            </a:r>
            <a:br>
              <a:rPr kumimoji="1" lang="en-US" altLang="en-US"/>
            </a:br>
            <a:br>
              <a:rPr kumimoji="1" lang="en-US" altLang="en-US"/>
            </a:br>
            <a:br>
              <a:rPr kumimoji="1" lang="en-US" altLang="en-US"/>
            </a:br>
            <a:br>
              <a:rPr kumimoji="1" lang="en-US" altLang="en-US"/>
            </a:br>
            <a:r>
              <a:rPr kumimoji="1" lang="en-US" altLang="en-US"/>
              <a:t>where </a:t>
            </a:r>
            <a:r>
              <a:rPr kumimoji="1" lang="en-US" altLang="en-US" i="1"/>
              <a:t>x</a:t>
            </a:r>
            <a:r>
              <a:rPr kumimoji="1" lang="en-US" altLang="en-US"/>
              <a:t> represents the number of items and </a:t>
            </a:r>
            <a:r>
              <a:rPr kumimoji="1" lang="en-US" altLang="en-US" i="1"/>
              <a:t>P</a:t>
            </a:r>
            <a:r>
              <a:rPr kumimoji="1" lang="en-US" altLang="en-US"/>
              <a:t>(</a:t>
            </a:r>
            <a:r>
              <a:rPr kumimoji="1" lang="en-US" altLang="en-US" i="1"/>
              <a:t>x</a:t>
            </a:r>
            <a:r>
              <a:rPr kumimoji="1" lang="en-US" altLang="en-US"/>
              <a:t>) represents the price of the item.  Determine the revenue function and find the revenue generated if 50 items are sold.</a:t>
            </a:r>
            <a:r>
              <a:rPr kumimoji="1" lang="en-US" altLang="en-US" sz="1800"/>
              <a:t> </a:t>
            </a:r>
          </a:p>
        </p:txBody>
      </p:sp>
      <p:graphicFrame>
        <p:nvGraphicFramePr>
          <p:cNvPr id="57346" name="Object 2">
            <a:extLst>
              <a:ext uri="{FF2B5EF4-FFF2-40B4-BE49-F238E27FC236}">
                <a16:creationId xmlns:a16="http://schemas.microsoft.com/office/drawing/2014/main" id="{996AD76E-35B4-46CB-A1EB-4674966E72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2590800"/>
          <a:ext cx="51816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1" name="Equation" r:id="rId4" imgW="1955520" imgH="203040" progId="Equation.DSMT4">
                  <p:embed/>
                </p:oleObj>
              </mc:Choice>
              <mc:Fallback>
                <p:oleObj name="Equation" r:id="rId4" imgW="195552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590800"/>
                        <a:ext cx="518160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80">
                                <a:alpha val="50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33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Footer Placeholder 3">
            <a:extLst>
              <a:ext uri="{FF2B5EF4-FFF2-40B4-BE49-F238E27FC236}">
                <a16:creationId xmlns:a16="http://schemas.microsoft.com/office/drawing/2014/main" id="{E4CB13B4-0478-4506-A5EE-01894FB110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59397" name="Rectangle 2">
            <a:extLst>
              <a:ext uri="{FF2B5EF4-FFF2-40B4-BE49-F238E27FC236}">
                <a16:creationId xmlns:a16="http://schemas.microsoft.com/office/drawing/2014/main" id="{247CD856-0568-4E41-A357-1E0CE72F3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Solution</a:t>
            </a:r>
            <a:endParaRPr kumimoji="1" lang="en-US" altLang="en-US">
              <a:solidFill>
                <a:srgbClr val="990000"/>
              </a:solidFill>
            </a:endParaRPr>
          </a:p>
        </p:txBody>
      </p:sp>
      <p:sp>
        <p:nvSpPr>
          <p:cNvPr id="59398" name="Rectangle 3">
            <a:extLst>
              <a:ext uri="{FF2B5EF4-FFF2-40B4-BE49-F238E27FC236}">
                <a16:creationId xmlns:a16="http://schemas.microsoft.com/office/drawing/2014/main" id="{8060C0C0-E0C5-4DB8-B525-8AC1AA9C67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en-US">
                <a:solidFill>
                  <a:srgbClr val="CC3300"/>
                </a:solidFill>
              </a:rPr>
              <a:t>Revenue = Price </a:t>
            </a:r>
            <a:r>
              <a:rPr kumimoji="1" lang="en-US" altLang="en-US">
                <a:solidFill>
                  <a:srgbClr val="CC3300"/>
                </a:solidFill>
                <a:cs typeface="Times New Roman" panose="02020603050405020304" pitchFamily="18" charset="0"/>
              </a:rPr>
              <a:t>∙</a:t>
            </a:r>
            <a:r>
              <a:rPr kumimoji="1" lang="en-US" altLang="en-US">
                <a:solidFill>
                  <a:srgbClr val="CC3300"/>
                </a:solidFill>
              </a:rPr>
              <a:t> Quantity,  so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en-US" i="1">
                <a:solidFill>
                  <a:srgbClr val="CC3300"/>
                </a:solidFill>
              </a:rPr>
              <a:t>                            R</a:t>
            </a:r>
            <a:r>
              <a:rPr kumimoji="1" lang="en-US" altLang="en-US">
                <a:solidFill>
                  <a:srgbClr val="CC3300"/>
                </a:solidFill>
              </a:rPr>
              <a:t>(</a:t>
            </a:r>
            <a:r>
              <a:rPr kumimoji="1" lang="en-US" altLang="en-US" i="1">
                <a:solidFill>
                  <a:srgbClr val="CC3300"/>
                </a:solidFill>
              </a:rPr>
              <a:t>x</a:t>
            </a:r>
            <a:r>
              <a:rPr kumimoji="1" lang="en-US" altLang="en-US">
                <a:solidFill>
                  <a:srgbClr val="CC3300"/>
                </a:solidFill>
              </a:rPr>
              <a:t>)= </a:t>
            </a:r>
            <a:r>
              <a:rPr kumimoji="1" lang="en-US" altLang="en-US" i="1">
                <a:solidFill>
                  <a:srgbClr val="CC3300"/>
                </a:solidFill>
              </a:rPr>
              <a:t>p</a:t>
            </a:r>
            <a:r>
              <a:rPr kumimoji="1" lang="en-US" altLang="en-US">
                <a:solidFill>
                  <a:srgbClr val="CC3300"/>
                </a:solidFill>
              </a:rPr>
              <a:t>(</a:t>
            </a:r>
            <a:r>
              <a:rPr kumimoji="1" lang="en-US" altLang="en-US" i="1">
                <a:solidFill>
                  <a:srgbClr val="CC3300"/>
                </a:solidFill>
              </a:rPr>
              <a:t>x</a:t>
            </a:r>
            <a:r>
              <a:rPr kumimoji="1" lang="en-US" altLang="en-US">
                <a:solidFill>
                  <a:srgbClr val="CC3300"/>
                </a:solidFill>
              </a:rPr>
              <a:t>) </a:t>
            </a:r>
            <a:r>
              <a:rPr kumimoji="1" lang="en-US" altLang="en-US">
                <a:solidFill>
                  <a:srgbClr val="CC3300"/>
                </a:solidFill>
                <a:cs typeface="Times New Roman" panose="02020603050405020304" pitchFamily="18" charset="0"/>
              </a:rPr>
              <a:t>∙ </a:t>
            </a:r>
            <a:r>
              <a:rPr kumimoji="1" lang="en-US" altLang="en-US" i="1">
                <a:solidFill>
                  <a:srgbClr val="CC3300"/>
                </a:solidFill>
              </a:rPr>
              <a:t>x</a:t>
            </a:r>
            <a:r>
              <a:rPr kumimoji="1" lang="en-US" altLang="en-US">
                <a:solidFill>
                  <a:srgbClr val="CC3300"/>
                </a:solidFill>
              </a:rPr>
              <a:t> = (1000 – 5</a:t>
            </a:r>
            <a:r>
              <a:rPr kumimoji="1" lang="en-US" altLang="en-US" i="1">
                <a:solidFill>
                  <a:srgbClr val="CC3300"/>
                </a:solidFill>
              </a:rPr>
              <a:t>x</a:t>
            </a:r>
            <a:r>
              <a:rPr kumimoji="1" lang="en-US" altLang="en-US">
                <a:solidFill>
                  <a:srgbClr val="CC3300"/>
                </a:solidFill>
              </a:rPr>
              <a:t>) </a:t>
            </a:r>
            <a:r>
              <a:rPr kumimoji="1" lang="en-US" altLang="en-US">
                <a:solidFill>
                  <a:srgbClr val="CC3300"/>
                </a:solidFill>
                <a:cs typeface="Times New Roman" panose="02020603050405020304" pitchFamily="18" charset="0"/>
              </a:rPr>
              <a:t>∙ </a:t>
            </a:r>
            <a:r>
              <a:rPr kumimoji="1" lang="en-US" altLang="en-US" i="1">
                <a:solidFill>
                  <a:srgbClr val="CC3300"/>
                </a:solidFill>
                <a:cs typeface="Times New Roman" panose="02020603050405020304" pitchFamily="18" charset="0"/>
              </a:rPr>
              <a:t>x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en-US">
                <a:solidFill>
                  <a:srgbClr val="CC3300"/>
                </a:solidFill>
              </a:rPr>
              <a:t>When 50 items are sold, </a:t>
            </a:r>
            <a:r>
              <a:rPr kumimoji="1" lang="en-US" altLang="en-US" i="1">
                <a:solidFill>
                  <a:srgbClr val="CC3300"/>
                </a:solidFill>
              </a:rPr>
              <a:t>x</a:t>
            </a:r>
            <a:r>
              <a:rPr kumimoji="1" lang="en-US" altLang="en-US">
                <a:solidFill>
                  <a:srgbClr val="CC3300"/>
                </a:solidFill>
              </a:rPr>
              <a:t> = 50, so we will evaluate the revenue function at </a:t>
            </a:r>
            <a:r>
              <a:rPr kumimoji="1" lang="en-US" altLang="en-US" i="1">
                <a:solidFill>
                  <a:srgbClr val="CC3300"/>
                </a:solidFill>
              </a:rPr>
              <a:t>x</a:t>
            </a:r>
            <a:r>
              <a:rPr kumimoji="1" lang="en-US" altLang="en-US">
                <a:solidFill>
                  <a:srgbClr val="CC3300"/>
                </a:solidFill>
              </a:rPr>
              <a:t> = 50: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kumimoji="1" lang="en-US" altLang="en-US">
              <a:solidFill>
                <a:srgbClr val="CC3300"/>
              </a:solidFill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kumimoji="1" lang="en-US" altLang="en-US">
              <a:solidFill>
                <a:srgbClr val="CC3300"/>
              </a:solidFill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en-US">
                <a:solidFill>
                  <a:srgbClr val="CC3300"/>
                </a:solidFill>
              </a:rPr>
              <a:t>The domain of the function has already been specified. We are told that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kumimoji="1" lang="en-US" altLang="en-US">
              <a:solidFill>
                <a:srgbClr val="CC3300"/>
              </a:solidFill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kumimoji="1" lang="en-US" altLang="en-US"/>
          </a:p>
        </p:txBody>
      </p:sp>
      <p:graphicFrame>
        <p:nvGraphicFramePr>
          <p:cNvPr id="59394" name="Object 2">
            <a:extLst>
              <a:ext uri="{FF2B5EF4-FFF2-40B4-BE49-F238E27FC236}">
                <a16:creationId xmlns:a16="http://schemas.microsoft.com/office/drawing/2014/main" id="{1D2F8814-C96F-46AB-B260-0C9A294880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3733800"/>
          <a:ext cx="47244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1" name="Equation" r:id="rId4" imgW="2184120" imgH="203040" progId="Equation.DSMT4">
                  <p:embed/>
                </p:oleObj>
              </mc:Choice>
              <mc:Fallback>
                <p:oleObj name="Equation" r:id="rId4" imgW="218412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733800"/>
                        <a:ext cx="472440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000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5" name="Object 3">
            <a:extLst>
              <a:ext uri="{FF2B5EF4-FFF2-40B4-BE49-F238E27FC236}">
                <a16:creationId xmlns:a16="http://schemas.microsoft.com/office/drawing/2014/main" id="{5ABBF0C1-3340-413D-B0C8-9376AA40A9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5105400"/>
          <a:ext cx="16002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2" name="Equation" r:id="rId6" imgW="711000" imgH="177480" progId="Equation.DSMT4">
                  <p:embed/>
                </p:oleObj>
              </mc:Choice>
              <mc:Fallback>
                <p:oleObj name="Equation" r:id="rId6" imgW="711000" imgH="177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105400"/>
                        <a:ext cx="16002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000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3">
            <a:extLst>
              <a:ext uri="{FF2B5EF4-FFF2-40B4-BE49-F238E27FC236}">
                <a16:creationId xmlns:a16="http://schemas.microsoft.com/office/drawing/2014/main" id="{09BC2ADE-F7CF-491F-8EDB-2776CDB8AC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43BB2C26-A548-40FE-90B4-7AA83E4FDF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Break-Even and Profit-Loss Analysis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7E955A36-79C0-464B-B0C1-9F8521554E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3551238"/>
          </a:xfrm>
        </p:spPr>
        <p:txBody>
          <a:bodyPr/>
          <a:lstStyle/>
          <a:p>
            <a:r>
              <a:rPr kumimoji="1" lang="en-US" altLang="en-US" sz="2000"/>
              <a:t>Any manufacturing company has </a:t>
            </a:r>
            <a:r>
              <a:rPr kumimoji="1" lang="en-US" altLang="en-US" sz="2000" b="1"/>
              <a:t>costs</a:t>
            </a:r>
            <a:r>
              <a:rPr kumimoji="1" lang="en-US" altLang="en-US" sz="2000"/>
              <a:t> </a:t>
            </a:r>
            <a:r>
              <a:rPr kumimoji="1" lang="en-US" altLang="en-US" sz="2000" i="1"/>
              <a:t>C</a:t>
            </a:r>
            <a:r>
              <a:rPr kumimoji="1" lang="en-US" altLang="en-US" sz="2000"/>
              <a:t> and </a:t>
            </a:r>
            <a:r>
              <a:rPr kumimoji="1" lang="en-US" altLang="en-US" sz="2000" b="1"/>
              <a:t>revenues</a:t>
            </a:r>
            <a:r>
              <a:rPr kumimoji="1" lang="en-US" altLang="en-US" sz="2000"/>
              <a:t> </a:t>
            </a:r>
            <a:r>
              <a:rPr kumimoji="1" lang="en-US" altLang="en-US" sz="2000" i="1"/>
              <a:t>R</a:t>
            </a:r>
            <a:r>
              <a:rPr kumimoji="1" lang="en-US" altLang="en-US" sz="2000"/>
              <a:t>.  </a:t>
            </a:r>
          </a:p>
          <a:p>
            <a:r>
              <a:rPr kumimoji="1" lang="en-US" altLang="en-US" sz="2000"/>
              <a:t>The company will have a </a:t>
            </a:r>
            <a:r>
              <a:rPr kumimoji="1" lang="en-US" altLang="en-US" sz="2000" b="1"/>
              <a:t>loss</a:t>
            </a:r>
            <a:r>
              <a:rPr kumimoji="1" lang="en-US" altLang="en-US" sz="2000"/>
              <a:t> if </a:t>
            </a:r>
            <a:r>
              <a:rPr kumimoji="1" lang="en-US" altLang="en-US" sz="2000" i="1"/>
              <a:t>R</a:t>
            </a:r>
            <a:r>
              <a:rPr kumimoji="1" lang="en-US" altLang="en-US" sz="2000"/>
              <a:t> &lt; </a:t>
            </a:r>
            <a:r>
              <a:rPr kumimoji="1" lang="en-US" altLang="en-US" sz="2000" i="1"/>
              <a:t>C</a:t>
            </a:r>
            <a:r>
              <a:rPr kumimoji="1" lang="en-US" altLang="en-US" sz="2000"/>
              <a:t>, will </a:t>
            </a:r>
            <a:r>
              <a:rPr kumimoji="1" lang="en-US" altLang="en-US" sz="2000" b="1"/>
              <a:t>break even</a:t>
            </a:r>
            <a:r>
              <a:rPr kumimoji="1" lang="en-US" altLang="en-US" sz="2000"/>
              <a:t> </a:t>
            </a:r>
            <a:br>
              <a:rPr kumimoji="1" lang="en-US" altLang="en-US" sz="2000"/>
            </a:br>
            <a:r>
              <a:rPr kumimoji="1" lang="en-US" altLang="en-US" sz="2000"/>
              <a:t>if </a:t>
            </a:r>
            <a:r>
              <a:rPr kumimoji="1" lang="en-US" altLang="en-US" sz="2000" i="1"/>
              <a:t>R</a:t>
            </a:r>
            <a:r>
              <a:rPr kumimoji="1" lang="en-US" altLang="en-US" sz="2000"/>
              <a:t> = </a:t>
            </a:r>
            <a:r>
              <a:rPr kumimoji="1" lang="en-US" altLang="en-US" sz="2000" i="1"/>
              <a:t>C</a:t>
            </a:r>
            <a:r>
              <a:rPr kumimoji="1" lang="en-US" altLang="en-US" sz="2000"/>
              <a:t>, and will have a </a:t>
            </a:r>
            <a:r>
              <a:rPr kumimoji="1" lang="en-US" altLang="en-US" sz="2000" b="1"/>
              <a:t>profit</a:t>
            </a:r>
            <a:r>
              <a:rPr kumimoji="1" lang="en-US" altLang="en-US" sz="2000"/>
              <a:t> if </a:t>
            </a:r>
            <a:r>
              <a:rPr kumimoji="1" lang="en-US" altLang="en-US" sz="2000" i="1"/>
              <a:t>R</a:t>
            </a:r>
            <a:r>
              <a:rPr kumimoji="1" lang="en-US" altLang="en-US" sz="2000"/>
              <a:t> &gt; </a:t>
            </a:r>
            <a:r>
              <a:rPr kumimoji="1" lang="en-US" altLang="en-US" sz="2000" i="1"/>
              <a:t>C</a:t>
            </a:r>
            <a:r>
              <a:rPr kumimoji="1" lang="en-US" altLang="en-US" sz="2000"/>
              <a:t>.</a:t>
            </a:r>
          </a:p>
          <a:p>
            <a:r>
              <a:rPr kumimoji="1" lang="en-US" altLang="en-US" sz="2000"/>
              <a:t>Costs include </a:t>
            </a:r>
            <a:r>
              <a:rPr kumimoji="1" lang="en-US" altLang="en-US" sz="2000" b="1"/>
              <a:t>fixed costs</a:t>
            </a:r>
            <a:r>
              <a:rPr kumimoji="1" lang="en-US" altLang="en-US" sz="2000"/>
              <a:t> such as plant overhead, etc. and </a:t>
            </a:r>
            <a:r>
              <a:rPr kumimoji="1" lang="en-US" altLang="en-US" sz="2000" b="1"/>
              <a:t>variable costs</a:t>
            </a:r>
            <a:r>
              <a:rPr kumimoji="1" lang="en-US" altLang="en-US" sz="2000"/>
              <a:t>, which are dependent on the number of items produced.       </a:t>
            </a:r>
            <a:br>
              <a:rPr kumimoji="1" lang="en-US" altLang="en-US" sz="2000"/>
            </a:br>
            <a:r>
              <a:rPr kumimoji="1" lang="en-US" altLang="en-US" sz="2000"/>
              <a:t>                                    </a:t>
            </a:r>
            <a:r>
              <a:rPr kumimoji="1" lang="en-US" altLang="en-US" sz="2000" i="1"/>
              <a:t>C = a + bx</a:t>
            </a:r>
            <a:br>
              <a:rPr kumimoji="1" lang="en-US" altLang="en-US" sz="2000" i="1"/>
            </a:br>
            <a:r>
              <a:rPr kumimoji="1" lang="en-US" altLang="en-US" sz="2000"/>
              <a:t>(</a:t>
            </a:r>
            <a:r>
              <a:rPr kumimoji="1" lang="en-US" altLang="en-US" sz="2000" i="1"/>
              <a:t>x</a:t>
            </a:r>
            <a:r>
              <a:rPr kumimoji="1" lang="en-US" altLang="en-US" sz="2000"/>
              <a:t> is the number of items produced)</a:t>
            </a:r>
          </a:p>
          <a:p>
            <a:endParaRPr kumimoji="1" lang="en-US" altLang="en-US" sz="2000" i="1"/>
          </a:p>
          <a:p>
            <a:endParaRPr kumimoji="1" lang="en-US" altLang="en-US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>
            <a:extLst>
              <a:ext uri="{FF2B5EF4-FFF2-40B4-BE49-F238E27FC236}">
                <a16:creationId xmlns:a16="http://schemas.microsoft.com/office/drawing/2014/main" id="{2344837E-4EBD-43D0-94CA-F000CA6687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B4D7C4BA-040E-47AD-B1DF-DD59DB0EC9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Break-Even and Profit-Loss Analysis</a:t>
            </a:r>
            <a:br>
              <a:rPr kumimoji="1" lang="en-US" altLang="en-US"/>
            </a:br>
            <a:r>
              <a:rPr kumimoji="1" lang="en-US" altLang="en-US"/>
              <a:t>(continued)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614B09A2-541F-48AB-A0C9-973037238B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 b="1"/>
              <a:t>Price-demand</a:t>
            </a:r>
            <a:r>
              <a:rPr kumimoji="1" lang="en-US" altLang="en-US"/>
              <a:t> functions, usually determined by financial departments, play an important role in profit-loss analysis.</a:t>
            </a:r>
            <a:br>
              <a:rPr kumimoji="1" lang="en-US" altLang="en-US"/>
            </a:br>
            <a:r>
              <a:rPr kumimoji="1" lang="en-US" altLang="en-US"/>
              <a:t>                                     </a:t>
            </a:r>
            <a:r>
              <a:rPr kumimoji="1" lang="en-US" altLang="en-US" i="1"/>
              <a:t>p = m – nx</a:t>
            </a:r>
            <a:br>
              <a:rPr kumimoji="1" lang="en-US" altLang="en-US"/>
            </a:br>
            <a:r>
              <a:rPr kumimoji="1" lang="en-US" altLang="en-US"/>
              <a:t> (</a:t>
            </a:r>
            <a:r>
              <a:rPr kumimoji="1" lang="en-US" altLang="en-US" i="1"/>
              <a:t>x</a:t>
            </a:r>
            <a:r>
              <a:rPr kumimoji="1" lang="en-US" altLang="en-US"/>
              <a:t> is the number of items than can be sold at $</a:t>
            </a:r>
            <a:r>
              <a:rPr kumimoji="1" lang="en-US" altLang="en-US" i="1"/>
              <a:t>p</a:t>
            </a:r>
            <a:r>
              <a:rPr kumimoji="1" lang="en-US" altLang="en-US"/>
              <a:t> per item.)</a:t>
            </a:r>
          </a:p>
          <a:p>
            <a:r>
              <a:rPr kumimoji="1" lang="en-US" altLang="en-US"/>
              <a:t>The </a:t>
            </a:r>
            <a:r>
              <a:rPr kumimoji="1" lang="en-US" altLang="en-US" b="1"/>
              <a:t>revenue function</a:t>
            </a:r>
            <a:r>
              <a:rPr kumimoji="1" lang="en-US" altLang="en-US"/>
              <a:t> is </a:t>
            </a:r>
            <a:br>
              <a:rPr kumimoji="1" lang="en-US" altLang="en-US"/>
            </a:br>
            <a:r>
              <a:rPr kumimoji="1" lang="en-US" altLang="en-US"/>
              <a:t>           </a:t>
            </a:r>
            <a:r>
              <a:rPr kumimoji="1" lang="en-US" altLang="en-US" i="1"/>
              <a:t>R</a:t>
            </a:r>
            <a:r>
              <a:rPr kumimoji="1" lang="en-US" altLang="en-US"/>
              <a:t> = (number of items sold) </a:t>
            </a:r>
            <a:r>
              <a:rPr kumimoji="1" lang="en-US" altLang="en-US">
                <a:cs typeface="Times New Roman" panose="02020603050405020304" pitchFamily="18" charset="0"/>
              </a:rPr>
              <a:t>∙ </a:t>
            </a:r>
            <a:r>
              <a:rPr kumimoji="1" lang="en-US" altLang="en-US"/>
              <a:t>(price per item)</a:t>
            </a:r>
            <a:br>
              <a:rPr kumimoji="1" lang="en-US" altLang="en-US"/>
            </a:br>
            <a:r>
              <a:rPr kumimoji="1" lang="en-US" altLang="en-US"/>
              <a:t>               = </a:t>
            </a:r>
            <a:r>
              <a:rPr kumimoji="1" lang="en-US" altLang="en-US" i="1"/>
              <a:t>xp</a:t>
            </a:r>
            <a:r>
              <a:rPr kumimoji="1" lang="en-US" altLang="en-US"/>
              <a:t> = </a:t>
            </a:r>
            <a:r>
              <a:rPr kumimoji="1" lang="en-US" altLang="en-US" i="1"/>
              <a:t>x</a:t>
            </a:r>
            <a:r>
              <a:rPr kumimoji="1" lang="en-US" altLang="en-US"/>
              <a:t>(</a:t>
            </a:r>
            <a:r>
              <a:rPr kumimoji="1" lang="en-US" altLang="en-US" i="1"/>
              <a:t>m – nx</a:t>
            </a:r>
            <a:r>
              <a:rPr kumimoji="1" lang="en-US" altLang="en-US"/>
              <a:t>)</a:t>
            </a:r>
          </a:p>
          <a:p>
            <a:r>
              <a:rPr kumimoji="1" lang="en-US" altLang="en-US"/>
              <a:t>The </a:t>
            </a:r>
            <a:r>
              <a:rPr kumimoji="1" lang="en-US" altLang="en-US" b="1"/>
              <a:t>profit function</a:t>
            </a:r>
            <a:r>
              <a:rPr kumimoji="1" lang="en-US" altLang="en-US"/>
              <a:t> is </a:t>
            </a:r>
            <a:br>
              <a:rPr kumimoji="1" lang="en-US" altLang="en-US"/>
            </a:br>
            <a:r>
              <a:rPr kumimoji="1" lang="en-US" altLang="en-US"/>
              <a:t>          </a:t>
            </a:r>
            <a:r>
              <a:rPr kumimoji="1" lang="en-US" altLang="en-US" i="1"/>
              <a:t>P</a:t>
            </a:r>
            <a:r>
              <a:rPr kumimoji="1" lang="en-US" altLang="en-US"/>
              <a:t> = </a:t>
            </a:r>
            <a:r>
              <a:rPr kumimoji="1" lang="en-US" altLang="en-US" i="1"/>
              <a:t>R – C</a:t>
            </a:r>
            <a:r>
              <a:rPr kumimoji="1" lang="en-US" altLang="en-US"/>
              <a:t> = </a:t>
            </a:r>
            <a:r>
              <a:rPr kumimoji="1" lang="en-US" altLang="en-US" i="1"/>
              <a:t>x</a:t>
            </a:r>
            <a:r>
              <a:rPr kumimoji="1" lang="en-US" altLang="en-US"/>
              <a:t>(</a:t>
            </a:r>
            <a:r>
              <a:rPr kumimoji="1" lang="en-US" altLang="en-US" i="1"/>
              <a:t>m – nx</a:t>
            </a:r>
            <a:r>
              <a:rPr kumimoji="1" lang="en-US" altLang="en-US"/>
              <a:t>) – (</a:t>
            </a:r>
            <a:r>
              <a:rPr kumimoji="1" lang="en-US" altLang="en-US" i="1"/>
              <a:t>a + bx</a:t>
            </a:r>
            <a:r>
              <a:rPr kumimoji="1" lang="en-US" altLang="en-US"/>
              <a:t>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kumimoji="1"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2">
            <a:extLst>
              <a:ext uri="{FF2B5EF4-FFF2-40B4-BE49-F238E27FC236}">
                <a16:creationId xmlns:a16="http://schemas.microsoft.com/office/drawing/2014/main" id="{3BE7C444-EF1A-46B4-AA76-758A1F152C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2D40C22-3A51-47A7-8D07-29789DE35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Example of Profit-Loss Analysis</a:t>
            </a:r>
          </a:p>
        </p:txBody>
      </p:sp>
      <p:sp>
        <p:nvSpPr>
          <p:cNvPr id="64516" name="Text Box 3">
            <a:extLst>
              <a:ext uri="{FF2B5EF4-FFF2-40B4-BE49-F238E27FC236}">
                <a16:creationId xmlns:a16="http://schemas.microsoft.com/office/drawing/2014/main" id="{EA4F88EB-E2FD-4EC3-9367-3CBDDA099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981200"/>
            <a:ext cx="7239000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A company manufactures notebook computers.  Its marketing research department has determined that the data is modeled by the price-demand function</a:t>
            </a:r>
            <a:br>
              <a:rPr lang="en-US" altLang="en-US">
                <a:latin typeface="Times New Roman" panose="02020603050405020304" pitchFamily="18" charset="0"/>
              </a:rPr>
            </a:br>
            <a:r>
              <a:rPr lang="en-US" altLang="en-US" i="1">
                <a:latin typeface="Times New Roman" panose="02020603050405020304" pitchFamily="18" charset="0"/>
              </a:rPr>
              <a:t>p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</a:rPr>
              <a:t>) = 2,000 – 60</a:t>
            </a:r>
            <a:r>
              <a:rPr lang="en-US" altLang="en-US" i="1">
                <a:latin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</a:rPr>
              <a:t>, when 1 </a:t>
            </a:r>
            <a:r>
              <a:rPr lang="en-US" altLang="en-US" u="sng">
                <a:latin typeface="Times New Roman" panose="02020603050405020304" pitchFamily="18" charset="0"/>
              </a:rPr>
              <a:t>&lt;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u="sng">
                <a:latin typeface="Times New Roman" panose="02020603050405020304" pitchFamily="18" charset="0"/>
              </a:rPr>
              <a:t>&lt;</a:t>
            </a:r>
            <a:r>
              <a:rPr lang="en-US" altLang="en-US">
                <a:latin typeface="Times New Roman" panose="02020603050405020304" pitchFamily="18" charset="0"/>
              </a:rPr>
              <a:t> 25, (</a:t>
            </a:r>
            <a:r>
              <a:rPr lang="en-US" altLang="en-US" i="1">
                <a:latin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</a:rPr>
              <a:t> is in thousands).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What is the company’s revenue function and what is its domain?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Footer Placeholder 2">
            <a:extLst>
              <a:ext uri="{FF2B5EF4-FFF2-40B4-BE49-F238E27FC236}">
                <a16:creationId xmlns:a16="http://schemas.microsoft.com/office/drawing/2014/main" id="{6B4C4CE9-BAFC-45FD-825B-185007C990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66564" name="Rectangle 2">
            <a:extLst>
              <a:ext uri="{FF2B5EF4-FFF2-40B4-BE49-F238E27FC236}">
                <a16:creationId xmlns:a16="http://schemas.microsoft.com/office/drawing/2014/main" id="{F1E97DF5-B7C2-4104-93E1-55AB9B53F4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Answer to Revenue Problem</a:t>
            </a:r>
          </a:p>
        </p:txBody>
      </p:sp>
      <p:sp>
        <p:nvSpPr>
          <p:cNvPr id="66565" name="Text Box 3">
            <a:extLst>
              <a:ext uri="{FF2B5EF4-FFF2-40B4-BE49-F238E27FC236}">
                <a16:creationId xmlns:a16="http://schemas.microsoft.com/office/drawing/2014/main" id="{809C211D-6394-493F-BA67-AA3606254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828800"/>
            <a:ext cx="4402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Since Revenue = Price 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∙ Quantity,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66562" name="Object 2">
            <a:extLst>
              <a:ext uri="{FF2B5EF4-FFF2-40B4-BE49-F238E27FC236}">
                <a16:creationId xmlns:a16="http://schemas.microsoft.com/office/drawing/2014/main" id="{9769EB03-DA56-4721-A9E9-F8BDCFE246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2514600"/>
          <a:ext cx="73914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8" name="Equation" r:id="rId4" imgW="3035160" imgH="228600" progId="Equation.DSMT4">
                  <p:embed/>
                </p:oleObj>
              </mc:Choice>
              <mc:Fallback>
                <p:oleObj name="Equation" r:id="rId4" imgW="303516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514600"/>
                        <a:ext cx="73914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Text Box 5">
            <a:extLst>
              <a:ext uri="{FF2B5EF4-FFF2-40B4-BE49-F238E27FC236}">
                <a16:creationId xmlns:a16="http://schemas.microsoft.com/office/drawing/2014/main" id="{36514709-604A-4C5A-BA78-02032AF9E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276600"/>
            <a:ext cx="6858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The domain of this function is the same as the domain of the price-demand function, which is 1 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≤ 25 (in thousands.)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2">
            <a:extLst>
              <a:ext uri="{FF2B5EF4-FFF2-40B4-BE49-F238E27FC236}">
                <a16:creationId xmlns:a16="http://schemas.microsoft.com/office/drawing/2014/main" id="{AB1C8126-D21B-4259-BC62-2FE63265EE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E4C5876B-C2C0-4911-865D-ED8C232AA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Profit Problem</a:t>
            </a:r>
          </a:p>
        </p:txBody>
      </p:sp>
      <p:sp>
        <p:nvSpPr>
          <p:cNvPr id="68612" name="Text Box 3">
            <a:extLst>
              <a:ext uri="{FF2B5EF4-FFF2-40B4-BE49-F238E27FC236}">
                <a16:creationId xmlns:a16="http://schemas.microsoft.com/office/drawing/2014/main" id="{23D5D15E-0C36-4254-8113-322ECC06C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28800"/>
            <a:ext cx="77724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The financial department for the company in the preceding problem has established the following cost function for producing and selling </a:t>
            </a:r>
            <a:r>
              <a:rPr lang="en-US" altLang="en-US" i="1">
                <a:latin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</a:rPr>
              <a:t> thousand notebook computers: 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     </a:t>
            </a:r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</a:rPr>
              <a:t>) = 4,000 + 500</a:t>
            </a:r>
            <a:r>
              <a:rPr lang="en-US" altLang="en-US" i="1">
                <a:latin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</a:rPr>
              <a:t>                  (</a:t>
            </a:r>
            <a:r>
              <a:rPr lang="en-US" altLang="en-US" i="1">
                <a:latin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</a:rPr>
              <a:t> is in thousand dollars).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Write a profit function for producing and selling </a:t>
            </a:r>
            <a:r>
              <a:rPr lang="en-US" altLang="en-US" i="1">
                <a:latin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</a:rPr>
              <a:t> thousand notebook computers, and indicate the domain of this function.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2">
            <a:extLst>
              <a:ext uri="{FF2B5EF4-FFF2-40B4-BE49-F238E27FC236}">
                <a16:creationId xmlns:a16="http://schemas.microsoft.com/office/drawing/2014/main" id="{1F57E428-96C0-4635-978A-9F315FFE52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Barnett/Ziegler/Byleen </a:t>
            </a:r>
            <a:r>
              <a:rPr lang="en-US" altLang="en-US" sz="1400" i="1"/>
              <a:t>College Mathematics 12e</a:t>
            </a: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3BA67B40-7C1E-44E7-8109-2183B7F4A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Answer to Profit Problem</a:t>
            </a:r>
          </a:p>
        </p:txBody>
      </p:sp>
      <p:sp>
        <p:nvSpPr>
          <p:cNvPr id="70660" name="Text Box 3">
            <a:extLst>
              <a:ext uri="{FF2B5EF4-FFF2-40B4-BE49-F238E27FC236}">
                <a16:creationId xmlns:a16="http://schemas.microsoft.com/office/drawing/2014/main" id="{1D0D578E-099D-4CBF-B3D5-8789DBDC8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75438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Since Profit = Revenue – Cost, and our revenue function from the preceding problem was 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) = 2000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 – 60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aseline="30000">
                <a:solidFill>
                  <a:srgbClr val="CC33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,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) – 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) = 2000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 – 60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aseline="30000">
                <a:solidFill>
                  <a:srgbClr val="CC33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 – (4000 + 500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b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        = –60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aseline="30000">
                <a:solidFill>
                  <a:srgbClr val="CC33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 + 1500</a:t>
            </a:r>
            <a:r>
              <a:rPr lang="en-US" altLang="en-US" i="1">
                <a:solidFill>
                  <a:srgbClr val="CC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 – 4000.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The domain of this function is the same as the domain of the original price-demand function, 1</a:t>
            </a:r>
            <a:r>
              <a:rPr lang="en-US" altLang="en-US" u="sng">
                <a:solidFill>
                  <a:srgbClr val="CC33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 x </a:t>
            </a:r>
            <a:r>
              <a:rPr lang="en-US" altLang="en-US" u="sng">
                <a:solidFill>
                  <a:srgbClr val="CC33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 25 (in thousands.)</a:t>
            </a:r>
          </a:p>
        </p:txBody>
      </p:sp>
      <p:pic>
        <p:nvPicPr>
          <p:cNvPr id="70661" name="Picture 4" descr="PROFITFN">
            <a:extLst>
              <a:ext uri="{FF2B5EF4-FFF2-40B4-BE49-F238E27FC236}">
                <a16:creationId xmlns:a16="http://schemas.microsoft.com/office/drawing/2014/main" id="{B46FA473-C2DD-4B7F-AEC2-610724F41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572000"/>
            <a:ext cx="1855788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2" name="Text Box 5">
            <a:extLst>
              <a:ext uri="{FF2B5EF4-FFF2-40B4-BE49-F238E27FC236}">
                <a16:creationId xmlns:a16="http://schemas.microsoft.com/office/drawing/2014/main" id="{7D5E9E88-D2AA-4DCF-95FE-C78361504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572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63" name="Text Box 6">
            <a:extLst>
              <a:ext uri="{FF2B5EF4-FFF2-40B4-BE49-F238E27FC236}">
                <a16:creationId xmlns:a16="http://schemas.microsoft.com/office/drawing/2014/main" id="{0136E497-D38E-4C6A-88A3-8163BADFE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49580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>
                <a:latin typeface="Times New Roman" panose="02020603050405020304" pitchFamily="18" charset="0"/>
              </a:rPr>
              <a:t>5000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64" name="Freeform 7">
            <a:extLst>
              <a:ext uri="{FF2B5EF4-FFF2-40B4-BE49-F238E27FC236}">
                <a16:creationId xmlns:a16="http://schemas.microsoft.com/office/drawing/2014/main" id="{2A7B73BF-C0D2-4F34-8EE0-330138E7BB88}"/>
              </a:ext>
            </a:extLst>
          </p:cNvPr>
          <p:cNvSpPr>
            <a:spLocks/>
          </p:cNvSpPr>
          <p:nvPr/>
        </p:nvSpPr>
        <p:spPr bwMode="auto">
          <a:xfrm>
            <a:off x="4779963" y="4656138"/>
            <a:ext cx="212725" cy="66675"/>
          </a:xfrm>
          <a:custGeom>
            <a:avLst/>
            <a:gdLst>
              <a:gd name="T0" fmla="*/ 0 w 134"/>
              <a:gd name="T1" fmla="*/ 0 h 42"/>
              <a:gd name="T2" fmla="*/ 212725 w 134"/>
              <a:gd name="T3" fmla="*/ 52388 h 42"/>
              <a:gd name="T4" fmla="*/ 0 60000 65536"/>
              <a:gd name="T5" fmla="*/ 0 60000 65536"/>
              <a:gd name="T6" fmla="*/ 0 w 134"/>
              <a:gd name="T7" fmla="*/ 0 h 42"/>
              <a:gd name="T8" fmla="*/ 134 w 134"/>
              <a:gd name="T9" fmla="*/ 42 h 4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4" h="42">
                <a:moveTo>
                  <a:pt x="0" y="0"/>
                </a:moveTo>
                <a:cubicBezTo>
                  <a:pt x="44" y="42"/>
                  <a:pt x="70" y="33"/>
                  <a:pt x="134" y="3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0665" name="Text Box 8">
            <a:extLst>
              <a:ext uri="{FF2B5EF4-FFF2-40B4-BE49-F238E27FC236}">
                <a16:creationId xmlns:a16="http://schemas.microsoft.com/office/drawing/2014/main" id="{06CD02B9-F779-4F4A-BE07-456246B2E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181600"/>
            <a:ext cx="15890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>
                <a:latin typeface="Times New Roman" panose="02020603050405020304" pitchFamily="18" charset="0"/>
              </a:rPr>
              <a:t>Thousand dollars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66" name="Text Box 9">
            <a:extLst>
              <a:ext uri="{FF2B5EF4-FFF2-40B4-BE49-F238E27FC236}">
                <a16:creationId xmlns:a16="http://schemas.microsoft.com/office/drawing/2014/main" id="{9D289A72-D1B0-4D31-BD14-885C16DD9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867400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>
                <a:latin typeface="Times New Roman" panose="02020603050405020304" pitchFamily="18" charset="0"/>
              </a:rPr>
              <a:t>25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67" name="Freeform 10">
            <a:extLst>
              <a:ext uri="{FF2B5EF4-FFF2-40B4-BE49-F238E27FC236}">
                <a16:creationId xmlns:a16="http://schemas.microsoft.com/office/drawing/2014/main" id="{F3880718-0ACC-4C09-8DAF-2D95AC21BF76}"/>
              </a:ext>
            </a:extLst>
          </p:cNvPr>
          <p:cNvSpPr>
            <a:spLocks/>
          </p:cNvSpPr>
          <p:nvPr/>
        </p:nvSpPr>
        <p:spPr bwMode="auto">
          <a:xfrm>
            <a:off x="6858000" y="5791200"/>
            <a:ext cx="52388" cy="176213"/>
          </a:xfrm>
          <a:custGeom>
            <a:avLst/>
            <a:gdLst>
              <a:gd name="T0" fmla="*/ 52388 w 33"/>
              <a:gd name="T1" fmla="*/ 176213 h 111"/>
              <a:gd name="T2" fmla="*/ 0 w 33"/>
              <a:gd name="T3" fmla="*/ 0 h 111"/>
              <a:gd name="T4" fmla="*/ 0 60000 65536"/>
              <a:gd name="T5" fmla="*/ 0 60000 65536"/>
              <a:gd name="T6" fmla="*/ 0 w 33"/>
              <a:gd name="T7" fmla="*/ 0 h 111"/>
              <a:gd name="T8" fmla="*/ 33 w 33"/>
              <a:gd name="T9" fmla="*/ 111 h 11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" h="111">
                <a:moveTo>
                  <a:pt x="33" y="111"/>
                </a:moveTo>
                <a:cubicBezTo>
                  <a:pt x="5" y="69"/>
                  <a:pt x="0" y="50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0668" name="Text Box 11">
            <a:extLst>
              <a:ext uri="{FF2B5EF4-FFF2-40B4-BE49-F238E27FC236}">
                <a16:creationId xmlns:a16="http://schemas.microsoft.com/office/drawing/2014/main" id="{10E4AE40-0460-4D92-9393-FE0F3B173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6019800"/>
            <a:ext cx="170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>
                <a:latin typeface="Times New Roman" panose="02020603050405020304" pitchFamily="18" charset="0"/>
              </a:rPr>
              <a:t>Thousand cameras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 Black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1789</Words>
  <Application>Microsoft Office PowerPoint</Application>
  <PresentationFormat>On-screen Show (4:3)</PresentationFormat>
  <Paragraphs>206</Paragraphs>
  <Slides>29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ＭＳ Ｐゴシック</vt:lpstr>
      <vt:lpstr>Arial Black</vt:lpstr>
      <vt:lpstr>Times New Roman</vt:lpstr>
      <vt:lpstr>Wingdings</vt:lpstr>
      <vt:lpstr>Times</vt:lpstr>
      <vt:lpstr>Blank Presentation</vt:lpstr>
      <vt:lpstr>MathType 6.0 Equation</vt:lpstr>
      <vt:lpstr>MathType 5.0 Equation</vt:lpstr>
      <vt:lpstr>Chapter 2 NON LINIER EQUATION (Functions and Graphs)</vt:lpstr>
      <vt:lpstr>Learning Objectives for Section 2.1 Functions</vt:lpstr>
      <vt:lpstr>Graphing an Equation</vt:lpstr>
      <vt:lpstr>Graphing an Equation:  Making a Table of Ordered Pairs</vt:lpstr>
      <vt:lpstr>Graphing an Equation:  Plotting the points</vt:lpstr>
      <vt:lpstr>Functions </vt:lpstr>
      <vt:lpstr>Function Definition</vt:lpstr>
      <vt:lpstr>Functions Specified by Equations</vt:lpstr>
      <vt:lpstr>Functions Specified by Equations</vt:lpstr>
      <vt:lpstr>Vertical Line Test for a Function</vt:lpstr>
      <vt:lpstr>Vertical Line Test for a Function (continued)</vt:lpstr>
      <vt:lpstr>Function Notation</vt:lpstr>
      <vt:lpstr>Function Evaluation</vt:lpstr>
      <vt:lpstr>Function Evaluation</vt:lpstr>
      <vt:lpstr>Some Examples</vt:lpstr>
      <vt:lpstr>Domain of a Function</vt:lpstr>
      <vt:lpstr>Domain of a Function</vt:lpstr>
      <vt:lpstr>Domain of a Function (continued)</vt:lpstr>
      <vt:lpstr>Domain of a Function (continued)</vt:lpstr>
      <vt:lpstr>Domain of a Function: Another Example</vt:lpstr>
      <vt:lpstr>Domain of a Function: Another Example</vt:lpstr>
      <vt:lpstr>Mathematical Modeling</vt:lpstr>
      <vt:lpstr>Solution</vt:lpstr>
      <vt:lpstr>Break-Even and Profit-Loss Analysis</vt:lpstr>
      <vt:lpstr>Break-Even and Profit-Loss Analysis (continued)</vt:lpstr>
      <vt:lpstr>Example of Profit-Loss Analysis</vt:lpstr>
      <vt:lpstr>Answer to Revenue Problem</vt:lpstr>
      <vt:lpstr>Profit Problem</vt:lpstr>
      <vt:lpstr>Answer to Profit Problem</vt:lpstr>
    </vt:vector>
  </TitlesOfParts>
  <Company>Tom Atwater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Linear Equations and Graphs</dc:title>
  <dc:creator>Tom Atwater</dc:creator>
  <cp:lastModifiedBy>ASUS</cp:lastModifiedBy>
  <cp:revision>24</cp:revision>
  <dcterms:created xsi:type="dcterms:W3CDTF">2010-02-16T03:44:21Z</dcterms:created>
  <dcterms:modified xsi:type="dcterms:W3CDTF">2025-09-15T02:08:18Z</dcterms:modified>
</cp:coreProperties>
</file>