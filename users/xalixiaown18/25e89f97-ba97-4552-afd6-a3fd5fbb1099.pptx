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 (USD)</c:v>
                </c:pt>
              </c:strCache>
            </c:strRef>
          </c:tx>
          <c:spPr>
            <a:solidFill>
              <a:srgbClr val="4D96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66-4330-89BA-6124F417BC6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666-4330-89BA-6124F417BC6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666-4330-89BA-6124F417BC6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666-4330-89BA-6124F417BC6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666-4330-89BA-6124F417BC6F}"/>
              </c:ext>
            </c:extLst>
          </c:dPt>
          <c:dPt>
            <c:idx val="5"/>
            <c:invertIfNegative val="0"/>
            <c:bubble3D val="0"/>
            <c:spPr>
              <a:solidFill>
                <a:srgbClr val="FF6B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666-4330-89BA-6124F417BC6F}"/>
              </c:ext>
            </c:extLst>
          </c:dPt>
          <c:dPt>
            <c:idx val="6"/>
            <c:invertIfNegative val="0"/>
            <c:bubble3D val="0"/>
            <c:spPr>
              <a:solidFill>
                <a:srgbClr val="FF6B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666-4330-89BA-6124F417BC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5%</c:v>
                </c:pt>
                <c:pt idx="1">
                  <c:v>10%</c:v>
                </c:pt>
                <c:pt idx="2">
                  <c:v>12%</c:v>
                </c:pt>
                <c:pt idx="3">
                  <c:v>15%</c:v>
                </c:pt>
                <c:pt idx="4">
                  <c:v>16,27%</c:v>
                </c:pt>
                <c:pt idx="5">
                  <c:v>18%</c:v>
                </c:pt>
                <c:pt idx="6">
                  <c:v>20%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5319.94</c:v>
                </c:pt>
                <c:pt idx="1">
                  <c:v>2555.66</c:v>
                </c:pt>
                <c:pt idx="2">
                  <c:v>1646.26</c:v>
                </c:pt>
                <c:pt idx="3">
                  <c:v>452</c:v>
                </c:pt>
                <c:pt idx="4">
                  <c:v>0</c:v>
                </c:pt>
                <c:pt idx="5">
                  <c:v>-569.14</c:v>
                </c:pt>
                <c:pt idx="6">
                  <c:v>-1168.08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666-4330-89BA-6124F417BC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93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237744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2377440" cy="3657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TUGAS PERTEMUAN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170432"/>
            <a:ext cx="768096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7680960" cy="13716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TIME VALUE OF MONEY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21792" y="2816352"/>
            <a:ext cx="566928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5669280" cy="868680"/>
          </a:xfrm>
          <a:prstGeom prst="rect">
            <a:avLst/>
          </a:prstGeom>
          <a:solidFill>
            <a:srgbClr val="FF6B9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432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Analisis Kelayakan Investasi Ekspansi ke Pasar Luar Negeri (NPV &amp; IRR)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" y="3913632"/>
            <a:ext cx="475488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840480"/>
            <a:ext cx="4754880" cy="822960"/>
          </a:xfrm>
          <a:prstGeom prst="rect">
            <a:avLst/>
          </a:prstGeom>
          <a:solidFill>
            <a:srgbClr val="4D96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40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400" b="1" dirty="0">
                <a:solidFill>
                  <a:srgbClr val="FFFFFF"/>
                </a:solidFill>
                <a:latin typeface="Trebuchet MS" pitchFamily="34" charset="0"/>
              </a:rPr>
              <a:t>BAIM ADRAWAN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NIM </a:t>
            </a:r>
            <a:r>
              <a:rPr lang="id-ID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5404260066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  ABI 1C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48272" y="3364992"/>
            <a:ext cx="182880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291840"/>
            <a:ext cx="1828800" cy="137160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291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15%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LATAR BELAKANG &amp; TUJUAN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" y="1353312"/>
            <a:ext cx="3931920" cy="3200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63040"/>
            <a:ext cx="21945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2194560" cy="365760"/>
          </a:xfrm>
          <a:prstGeom prst="rect">
            <a:avLst/>
          </a:prstGeom>
          <a:solidFill>
            <a:srgbClr val="FF6B9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Persaingan bisnis semakin global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Ekspansi butuh modal besar dan berisiko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Nilai uang berubah menurut waktu, jadi investasi dinilai dengan Time Value of Money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28032" y="1353312"/>
            <a:ext cx="3931920" cy="3200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463040"/>
            <a:ext cx="146304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417320"/>
            <a:ext cx="1463040" cy="365760"/>
          </a:xfrm>
          <a:prstGeom prst="rect">
            <a:avLst/>
          </a:prstGeom>
          <a:solidFill>
            <a:srgbClr val="4D96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TUJUAN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Menghitung NPV pada r = 15%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Menghitung IRR proyek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Menilai kelayakan proyek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Membahas implikasi bisnis internasional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FF6B9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STUDI KASUS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Perusahaan berencana membuka cabang atau bermitra di pasar luar negeri.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1901952"/>
            <a:ext cx="1874520" cy="2377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1874520" cy="237744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11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USD 8.000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0175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Investasi awal (t = 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33472" y="1901952"/>
            <a:ext cx="1874520" cy="2377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828800"/>
            <a:ext cx="1874520" cy="237744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2011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USD 17.000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0175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Penerimaan bersih akhir tahun ke-5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36592" y="1901952"/>
            <a:ext cx="1874520" cy="2377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828800"/>
            <a:ext cx="1874520" cy="2377440"/>
          </a:xfrm>
          <a:prstGeom prst="rect">
            <a:avLst/>
          </a:prstGeom>
          <a:solidFill>
            <a:srgbClr val="4D96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2011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 TAHUN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0175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Umur proyek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39712" y="1901952"/>
            <a:ext cx="1874520" cy="2377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828800"/>
            <a:ext cx="1874520" cy="2377440"/>
          </a:xfrm>
          <a:prstGeom prst="rect">
            <a:avLst/>
          </a:prstGeom>
          <a:solidFill>
            <a:srgbClr val="FF6B9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2011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0175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disyaratkan (compounded annually)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4D96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 ARUS KAS PROYEK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749808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TAHUN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solidFill>
            <a:srgbClr val="FF6B9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-8.000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TAHUN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33172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2286000"/>
            <a:ext cx="457200" cy="457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402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TAHUN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233172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2286000"/>
            <a:ext cx="457200" cy="457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TAHUN 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233172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2286000"/>
            <a:ext cx="457200" cy="457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66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TAHUN 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233172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2286000"/>
            <a:ext cx="457200" cy="457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TAHUN 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233172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2286000"/>
            <a:ext cx="457200" cy="45720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924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+17.000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30352" y="3730752"/>
            <a:ext cx="822960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Semua penerimaan (USD 17.000) datang sekaligus di akhir tahun ke-5, jadi NPV dihitung dari satu arus kas masuk.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PERHITUNGAN NPV (R = 15%)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000000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9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NPV = CF₅ / (1 + r)⁵ − I₀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2194560"/>
            <a:ext cx="75895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148840"/>
            <a:ext cx="7589520" cy="457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Faktor majemuk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148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1,15⁵ = 2,011357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2788920"/>
            <a:ext cx="75895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2743200"/>
            <a:ext cx="7589520" cy="457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Faktor diskonto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2743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/ 2,011357 = 0,497177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43000" y="3383280"/>
            <a:ext cx="75895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3337560"/>
            <a:ext cx="7589520" cy="457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344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Nilai sekarang penerimaan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17.000 × 0,497177 = USD 8.452,00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02920" y="3977640"/>
            <a:ext cx="4572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43000" y="3977640"/>
            <a:ext cx="75895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3931920"/>
            <a:ext cx="7589520" cy="45720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3444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206240" y="3931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8.452,00 − 8.000 = USD 452,00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HASIL: NET PRESENT VALUE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" y="1353312"/>
            <a:ext cx="3840480" cy="3108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840480" cy="310896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NPV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USD 452,00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POSITIF: NPV &gt; 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Proyek menambah nilai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36592" y="1353312"/>
            <a:ext cx="4023360" cy="3108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 penerimaan USD 8.452,00 lebih besar dari investasi USD 8.000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8.000 pada 15% selama 5 tahun menjadi USD 16.090,86, lebih kecil dari USD 17.000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Profitability Index = 1,057 (&gt; 1)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FF6B9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PERHITUNGAN IRR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 = tingkat diskonto yang membuat NPV = 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1764792"/>
            <a:ext cx="512064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512064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91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 = −8.000 + 17.000 / (1 + IRR)⁵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" y="2496312"/>
            <a:ext cx="512064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512064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423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(1 + IRR)⁵ = 17.000 / 8.000 = 2,125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" y="3227832"/>
            <a:ext cx="512064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54680"/>
            <a:ext cx="512064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 + IRR = 2,125^(1/5) = 1,16271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16752" y="1764792"/>
            <a:ext cx="2743200" cy="2057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691640"/>
            <a:ext cx="2743200" cy="205740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IRR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286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16,27%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tahun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Cek: 8.000 × 1,1627⁵ = 17.000, sehingga NPV = 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4D96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PROFIL NPV VS TINGKAT DISKONTO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5394960" cy="3291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39496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548640" y="1325880"/>
          <a:ext cx="52120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199632" y="1307592"/>
            <a:ext cx="2560320" cy="3291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1234440"/>
            <a:ext cx="2560320" cy="329184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41732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turun saat tingkat diskonto naik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= 0 pada 16,27% (IRR)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 atas 16,27% proyek tidak layak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Pada 15% margin tipis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ANALISIS KEPUTUSAN INVESTASI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" y="1353312"/>
            <a:ext cx="256032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2560320" cy="182880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USD 452,00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051560" y="2560320"/>
            <a:ext cx="146304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514600"/>
            <a:ext cx="1463040" cy="3657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&gt; 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64992" y="1353312"/>
            <a:ext cx="256032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280160"/>
            <a:ext cx="2560320" cy="1828800"/>
          </a:xfrm>
          <a:prstGeom prst="rect">
            <a:avLst/>
          </a:prstGeom>
          <a:solidFill>
            <a:srgbClr val="FF6B9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16,27%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886200" y="2560320"/>
            <a:ext cx="146304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2514600"/>
            <a:ext cx="1463040" cy="3657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&gt; 15%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353312"/>
            <a:ext cx="256032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280160"/>
            <a:ext cx="2560320" cy="1828800"/>
          </a:xfrm>
          <a:prstGeom prst="rect">
            <a:avLst/>
          </a:prstGeom>
          <a:solidFill>
            <a:srgbClr val="4D96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1,057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720840" y="2560320"/>
            <a:ext cx="146304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2514600"/>
            <a:ext cx="1463040" cy="3657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&gt; 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000000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520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93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KEPUTUSAN: PROYEK LAYAK DIJALANKAN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Namun IRR hanya 1,27 poin di atas 15% dan NPV sekitar 5,65% dari investasi, jadi perlu analisis sensitivitas.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FF6B9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IMPLIKASI BISNIS INTERNASIONAL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" y="1307592"/>
            <a:ext cx="393192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3931920" cy="146304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RISIKO NILAI TUKAR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Penerimaan boleh turun maks. 5,35% (USD 16.090,86) agar NPV tidak negatif. Pertimbangkan hedging.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36592" y="1307592"/>
            <a:ext cx="393192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34440"/>
            <a:ext cx="3931920" cy="146304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PELUANG PASAR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Akses konsumen baru, diversifikasi pendapatan, dan skala ekonomi.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2999232"/>
            <a:ext cx="393192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4D96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BIAYA LOGISTIK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74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Kenaikan biaya kirim, bea masuk, dan kepatuhan dapat menghapus NPV yang tipis.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36592" y="2999232"/>
            <a:ext cx="393192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26080"/>
            <a:ext cx="39319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RISIKO NEGARA &amp; REGULASI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474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Kebijakan dagang, pajak, dan stabilitas politik dapat menaikkan return yang disyaratkan.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82296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KESIMPULAN &amp; REKOMENDASI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4864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solidFill>
            <a:srgbClr val="6BCB77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1325880"/>
            <a:ext cx="749808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280160"/>
            <a:ext cx="749808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12801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= USD 452,00 (positif) pada r = 15%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54864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solidFill>
            <a:srgbClr val="4D96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2148840"/>
            <a:ext cx="749808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103120"/>
            <a:ext cx="749808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21031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 = 16,27% lebih tinggi dari 15%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54864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solidFill>
            <a:srgbClr val="FF6B9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34440" y="2971800"/>
            <a:ext cx="749808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2926080"/>
            <a:ext cx="749808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29260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Proyek layak secara finansial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" y="3794760"/>
            <a:ext cx="54864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34440" y="3794760"/>
            <a:ext cx="749808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749040"/>
            <a:ext cx="749808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37490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Lanjutkan dengan analisis sensitivitas kurs, biaya, dan tingkat diskonto serta mitigasi risiko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557</Words>
  <Application>Microsoft Office PowerPoint</Application>
  <PresentationFormat>On-screen Show (16:9)</PresentationFormat>
  <Paragraphs>132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Impact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Always Nt</cp:lastModifiedBy>
  <cp:revision>2</cp:revision>
  <dcterms:created xsi:type="dcterms:W3CDTF">2026-09-30T11:40:31Z</dcterms:created>
  <dcterms:modified xsi:type="dcterms:W3CDTF">2026-09-30T12:15:23Z</dcterms:modified>
</cp:coreProperties>
</file>