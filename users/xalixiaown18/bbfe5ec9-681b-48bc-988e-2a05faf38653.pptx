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cbeb39e1-a644-2b4c-47de-5d1fc94e4bb3}">
          <p14:sldIdLst>
            <p14:sldId id="256"/>
          </p14:sldIdLst>
        </p14:section>
        <p14:section name="Pendahuluan" id="{59bbdaec-e92d-d4fa-67ee-65b14bb0fcb3}">
          <p14:sldIdLst>
            <p14:sldId id="257"/>
            <p14:sldId id="258"/>
          </p14:sldIdLst>
        </p14:section>
        <p14:section name="Teori" id="{b1da13b8-ff5b-045c-2a43-f96b78183a55}">
          <p14:sldIdLst>
            <p14:sldId id="259"/>
            <p14:sldId id="260"/>
            <p14:sldId id="261"/>
            <p14:sldId id="262"/>
          </p14:sldIdLst>
        </p14:section>
        <p14:section name="Studi Kasus" id="{d8431afa-de95-60ca-91f9-aa0b34399ac3}">
          <p14:sldIdLst>
            <p14:sldId id="263"/>
            <p14:sldId id="264"/>
          </p14:sldIdLst>
        </p14:section>
        <p14:section name="Latihan" id="{69af8f8c-e0df-c7cf-5fd0-9b736dbcf9a1}">
          <p14:sldIdLst>
            <p14:sldId id="265"/>
            <p14:sldId id="266"/>
          </p14:sldIdLst>
        </p14:section>
        <p14:section name="Penutup" id="{5b16742e-fd8f-52d6-3e82-69d6309d26d9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4EEE2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F4EEE2"/>
                </a:solidFill>
                <a:latin typeface="+mn-lt"/>
              </a:rPr>
              <a:t>Profit π(Q): puncak di Q* ≈ 13,33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π(Q)</c:v>
                </c:pt>
              </c:strCache>
            </c:strRef>
          </c:tx>
          <c:spPr>
            <a:solidFill>
              <a:srgbClr val="D4AF6A"/>
            </a:solidFill>
            <a:ln w="38100" cap="flat">
              <a:solidFill>
                <a:srgbClr val="D4AF6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4AF6A"/>
              </a:solidFill>
              <a:ln w="9525" cap="flat">
                <a:solidFill>
                  <a:srgbClr val="D4AF6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Sheet1!$A$2:$A$28</c:f>
              <c:multiLvlStrCache>
                <c:ptCount val="27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  <c:pt idx="24">
                    <c:v>24</c:v>
                  </c:pt>
                  <c:pt idx="25">
                    <c:v>25</c:v>
                  </c:pt>
                  <c:pt idx="26">
                    <c:v>26</c:v>
                  </c:pt>
                </c:lvl>
              </c:multiLvlStrCache>
            </c:multiLvlStrRef>
          </c:cat>
          <c:val>
            <c:numRef>
              <c:f>Sheet1!$B$2:$B$28</c:f>
              <c:numCache>
                <c:formatCode>General</c:formatCode>
                <c:ptCount val="27"/>
                <c:pt idx="0">
                  <c:v>-200</c:v>
                </c:pt>
                <c:pt idx="1">
                  <c:v>-123</c:v>
                </c:pt>
                <c:pt idx="2">
                  <c:v>-52</c:v>
                </c:pt>
                <c:pt idx="3">
                  <c:v>13</c:v>
                </c:pt>
                <c:pt idx="4">
                  <c:v>72</c:v>
                </c:pt>
                <c:pt idx="5">
                  <c:v>125</c:v>
                </c:pt>
                <c:pt idx="6">
                  <c:v>172</c:v>
                </c:pt>
                <c:pt idx="7">
                  <c:v>213</c:v>
                </c:pt>
                <c:pt idx="8">
                  <c:v>248</c:v>
                </c:pt>
                <c:pt idx="9">
                  <c:v>277</c:v>
                </c:pt>
                <c:pt idx="10">
                  <c:v>300</c:v>
                </c:pt>
                <c:pt idx="11">
                  <c:v>317</c:v>
                </c:pt>
                <c:pt idx="12">
                  <c:v>328</c:v>
                </c:pt>
                <c:pt idx="13">
                  <c:v>333</c:v>
                </c:pt>
                <c:pt idx="14">
                  <c:v>332</c:v>
                </c:pt>
                <c:pt idx="15">
                  <c:v>325</c:v>
                </c:pt>
                <c:pt idx="16">
                  <c:v>312</c:v>
                </c:pt>
                <c:pt idx="17">
                  <c:v>293</c:v>
                </c:pt>
                <c:pt idx="18">
                  <c:v>268</c:v>
                </c:pt>
                <c:pt idx="19">
                  <c:v>237</c:v>
                </c:pt>
                <c:pt idx="20">
                  <c:v>200</c:v>
                </c:pt>
                <c:pt idx="21">
                  <c:v>157</c:v>
                </c:pt>
                <c:pt idx="22">
                  <c:v>108</c:v>
                </c:pt>
                <c:pt idx="23">
                  <c:v>53</c:v>
                </c:pt>
                <c:pt idx="24">
                  <c:v>-8</c:v>
                </c:pt>
                <c:pt idx="25">
                  <c:v>-75</c:v>
                </c:pt>
                <c:pt idx="26">
                  <c:v>-148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C9D3E3"/>
                    </a:solidFill>
                    <a:latin typeface="+mn-lt"/>
                  </a:defRPr>
                </a:pPr>
                <a:r>
                  <a:rPr sz="1000" b="0" i="0" u="none" strike="noStrike">
                    <a:solidFill>
                      <a:srgbClr val="C9D3E3"/>
                    </a:solidFill>
                    <a:latin typeface="+mn-lt"/>
                  </a:rPr>
                  <a:t>Q (unit)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9D3E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4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447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C9D3E3"/>
                    </a:solidFill>
                    <a:latin typeface="+mn-lt"/>
                  </a:defRPr>
                </a:pPr>
                <a:r>
                  <a:rPr sz="1000" b="0" i="0" u="none" strike="noStrike">
                    <a:solidFill>
                      <a:srgbClr val="C9D3E3"/>
                    </a:solidFill>
                    <a:latin typeface="+mn-lt"/>
                  </a:rPr>
                  <a:t>Profit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9D3E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A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51560"/>
            <a:ext cx="54864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pic>
        <p:nvPicPr>
          <p:cNvPr id="3" name="Image 0" descr="/home/claude/build/str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869180"/>
            <a:ext cx="9144000" cy="2743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4EE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pic>
        <p:nvPicPr>
          <p:cNvPr id="3" name="Image 0" descr="/home/claude/build/str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869180"/>
            <a:ext cx="9144000" cy="2743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45720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0"/>
                </a:solidFill>
              </a:rPr>
              <a:t>Politeknik Negeri Bengkalis  •  Matematika Bisnis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5720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A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pic>
        <p:nvPicPr>
          <p:cNvPr id="3" name="Image 0" descr="/home/claude/build/str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869180"/>
            <a:ext cx="9144000" cy="2743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45720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8D0"/>
                </a:solidFill>
              </a:rPr>
              <a:t>Politeknik Negeri Bengkalis  •  Matematika Bisnis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5720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8D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5720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1"/>
                </a:solidFill>
              </a:rPr>
              <a:t>POLITEKNIK NEGERI BENGKALIS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600" kern="0" dirty="0">
                <a:solidFill>
                  <a:schemeClr val="accent5"/>
                </a:solidFill>
              </a:rPr>
              <a:t>MAKALAH</a:t>
            </a:r>
            <a:endParaRPr lang="en-US" sz="1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05156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2"/>
                </a:solidFill>
              </a:rPr>
              <a:t>Menghitung Untung Ekspor Serum Wajah ke Malaysia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488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Analisis Diferensiasi Bisnis Internasional  •  Matematika Bisnis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432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DISUSUN OLEH</a:t>
            </a:r>
            <a:endParaRPr lang="en-US" sz="1100" dirty="0"/>
          </a:p>
        </p:txBody>
      </p:sp>
      <p:sp>
        <p:nvSpPr>
          <p:cNvPr id="7" name="Nama 1"/>
          <p:cNvSpPr txBox="1"/>
          <p:nvPr/>
        </p:nvSpPr>
        <p:spPr>
          <a:xfrm>
            <a:off x="548640" y="3017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Baim Adrawan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5404260066</a:t>
            </a:r>
            <a:endParaRPr lang="en-US" sz="1400" dirty="0"/>
          </a:p>
        </p:txBody>
      </p:sp>
      <p:sp>
        <p:nvSpPr>
          <p:cNvPr id="8" name="Nama 2"/>
          <p:cNvSpPr txBox="1"/>
          <p:nvPr/>
        </p:nvSpPr>
        <p:spPr>
          <a:xfrm>
            <a:off x="3383280" y="3017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Esra Berliana Purba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5404260093</a:t>
            </a:r>
            <a:endParaRPr lang="en-US" sz="1400" dirty="0"/>
          </a:p>
        </p:txBody>
      </p:sp>
      <p:sp>
        <p:nvSpPr>
          <p:cNvPr id="9" name="Nama 3"/>
          <p:cNvSpPr txBox="1"/>
          <p:nvPr/>
        </p:nvSpPr>
        <p:spPr>
          <a:xfrm>
            <a:off x="548640" y="3566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Imelia Arta Uli Manalu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5404260045</a:t>
            </a:r>
            <a:endParaRPr lang="en-US" sz="1400" dirty="0"/>
          </a:p>
        </p:txBody>
      </p:sp>
      <p:sp>
        <p:nvSpPr>
          <p:cNvPr id="10" name="Nama 4"/>
          <p:cNvSpPr txBox="1"/>
          <p:nvPr/>
        </p:nvSpPr>
        <p:spPr>
          <a:xfrm>
            <a:off x="3383280" y="3566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Kasih Angel Simanjuntak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5404260072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2062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Dosen Pengampu: Bustami, S.ST., M.Si  •  Oktober 2026</a:t>
            </a:r>
            <a:endParaRPr lang="en-US" sz="1400" dirty="0"/>
          </a:p>
        </p:txBody>
      </p:sp>
      <p:sp>
        <p:nvSpPr>
          <p:cNvPr id="12" name="Cincin sampul outer"/>
          <p:cNvSpPr/>
          <p:nvPr/>
        </p:nvSpPr>
        <p:spPr>
          <a:xfrm>
            <a:off x="6400800" y="1097280"/>
            <a:ext cx="2468880" cy="2468880"/>
          </a:xfrm>
          <a:prstGeom prst="ellipse">
            <a:avLst/>
          </a:prstGeom>
          <a:ln w="19050">
            <a:solidFill>
              <a:schemeClr val="accent2"/>
            </a:solidFill>
            <a:prstDash val="solid"/>
          </a:ln>
        </p:spPr>
      </p:sp>
      <p:sp>
        <p:nvSpPr>
          <p:cNvPr id="13" name="Cincin sampul"/>
          <p:cNvSpPr/>
          <p:nvPr/>
        </p:nvSpPr>
        <p:spPr>
          <a:xfrm>
            <a:off x="6537960" y="1234440"/>
            <a:ext cx="2194560" cy="219456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37960" y="123444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i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dy/dx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2926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turunan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Mengapa Butuh Diferensiasi?</a:t>
            </a:r>
            <a:endParaRPr lang="en-US" sz="2800" dirty="0"/>
          </a:p>
        </p:txBody>
      </p:sp>
      <p:sp>
        <p:nvSpPr>
          <p:cNvPr id="3" name="Kartu Harga"/>
          <p:cNvSpPr/>
          <p:nvPr/>
        </p:nvSpPr>
        <p:spPr>
          <a:xfrm>
            <a:off x="548640" y="1188720"/>
            <a:ext cx="1874520" cy="2103120"/>
          </a:xfrm>
          <a:prstGeom prst="roundRect">
            <a:avLst>
              <a:gd name="adj" fmla="val 4878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4" name="Lingkar ikon Harga"/>
          <p:cNvSpPr/>
          <p:nvPr/>
        </p:nvSpPr>
        <p:spPr>
          <a:xfrm>
            <a:off x="1211580" y="1371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Ikon Harg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9596" y="1499616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011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Harga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2359152"/>
            <a:ext cx="16550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Berubah karena strategi perusahaan atau persaingan</a:t>
            </a:r>
            <a:endParaRPr lang="en-US" sz="1400" dirty="0"/>
          </a:p>
        </p:txBody>
      </p:sp>
      <p:sp>
        <p:nvSpPr>
          <p:cNvPr id="8" name="Kartu Permintaan"/>
          <p:cNvSpPr/>
          <p:nvPr/>
        </p:nvSpPr>
        <p:spPr>
          <a:xfrm>
            <a:off x="2606040" y="1188720"/>
            <a:ext cx="1874520" cy="2103120"/>
          </a:xfrm>
          <a:prstGeom prst="roundRect">
            <a:avLst>
              <a:gd name="adj" fmla="val 4878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Lingkar ikon Permintaan"/>
          <p:cNvSpPr/>
          <p:nvPr/>
        </p:nvSpPr>
        <p:spPr>
          <a:xfrm>
            <a:off x="3268980" y="1371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Ikon Permintaa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6996" y="149961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697480" y="2011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Permintaan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2715768" y="2359152"/>
            <a:ext cx="16550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Berubah karena harga dan kondisi pasar</a:t>
            </a:r>
            <a:endParaRPr lang="en-US" sz="1400" dirty="0"/>
          </a:p>
        </p:txBody>
      </p:sp>
      <p:sp>
        <p:nvSpPr>
          <p:cNvPr id="13" name="Kartu Biaya"/>
          <p:cNvSpPr/>
          <p:nvPr/>
        </p:nvSpPr>
        <p:spPr>
          <a:xfrm>
            <a:off x="4663440" y="1188720"/>
            <a:ext cx="1874520" cy="2103120"/>
          </a:xfrm>
          <a:prstGeom prst="roundRect">
            <a:avLst>
              <a:gd name="adj" fmla="val 4878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4" name="Lingkar ikon Biaya"/>
          <p:cNvSpPr/>
          <p:nvPr/>
        </p:nvSpPr>
        <p:spPr>
          <a:xfrm>
            <a:off x="5326380" y="1371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Ikon Biay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4396" y="1499616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754880" y="2011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Biaya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4773168" y="2359152"/>
            <a:ext cx="16550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Berubah karena volume produksi dan pengiriman</a:t>
            </a:r>
            <a:endParaRPr lang="en-US" sz="1400" dirty="0"/>
          </a:p>
        </p:txBody>
      </p:sp>
      <p:sp>
        <p:nvSpPr>
          <p:cNvPr id="18" name="Kartu Nilai Tukar"/>
          <p:cNvSpPr/>
          <p:nvPr/>
        </p:nvSpPr>
        <p:spPr>
          <a:xfrm>
            <a:off x="6720840" y="1188720"/>
            <a:ext cx="1874520" cy="2103120"/>
          </a:xfrm>
          <a:prstGeom prst="roundRect">
            <a:avLst>
              <a:gd name="adj" fmla="val 4878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9" name="Lingkar ikon Nilai Tukar"/>
          <p:cNvSpPr/>
          <p:nvPr/>
        </p:nvSpPr>
        <p:spPr>
          <a:xfrm>
            <a:off x="7383780" y="1371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3" descr="Ikon Nilai Tuka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1796" y="1499616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812280" y="2011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Nilai Tukar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6830568" y="2359152"/>
            <a:ext cx="16550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Memengaruhi harga relatif dan hasil transaksi</a:t>
            </a:r>
            <a:endParaRPr lang="en-US" sz="1400" dirty="0"/>
          </a:p>
        </p:txBody>
      </p:sp>
      <p:sp>
        <p:nvSpPr>
          <p:cNvPr id="23" name="Banner inti"/>
          <p:cNvSpPr/>
          <p:nvPr/>
        </p:nvSpPr>
        <p:spPr>
          <a:xfrm>
            <a:off x="548640" y="3520440"/>
            <a:ext cx="8046720" cy="91440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777240" y="35661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Turunan mengukur seberapa besar suatu perubahan memengaruhi variabel bisnis lain: MR, MC, marginal profit, output optimal, elastisitas, dan dampak kurs lewat Chain Rule.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5720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Rumusan Masalah &amp; Tujuan</a:t>
            </a:r>
            <a:endParaRPr lang="en-US" sz="2800" dirty="0"/>
          </a:p>
        </p:txBody>
      </p:sp>
      <p:sp>
        <p:nvSpPr>
          <p:cNvPr id="3" name="Kartu rumusan"/>
          <p:cNvSpPr/>
          <p:nvPr/>
        </p:nvSpPr>
        <p:spPr>
          <a:xfrm>
            <a:off x="548640" y="1097280"/>
            <a:ext cx="3931920" cy="3383280"/>
          </a:xfrm>
          <a:prstGeom prst="roundRect">
            <a:avLst>
              <a:gd name="adj" fmla="val 270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4" name="Kartu tujuan"/>
          <p:cNvSpPr/>
          <p:nvPr/>
        </p:nvSpPr>
        <p:spPr>
          <a:xfrm>
            <a:off x="4663440" y="1097280"/>
            <a:ext cx="3931920" cy="3383280"/>
          </a:xfrm>
          <a:prstGeom prst="roundRect">
            <a:avLst>
              <a:gd name="adj" fmla="val 2703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188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Rumusan Masalah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892040" y="1188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Tujuan</a:t>
            </a:r>
            <a:endParaRPr lang="en-US" sz="1800" dirty="0"/>
          </a:p>
        </p:txBody>
      </p:sp>
      <p:sp>
        <p:nvSpPr>
          <p:cNvPr id="7" name="No 1"/>
          <p:cNvSpPr/>
          <p:nvPr/>
        </p:nvSpPr>
        <p:spPr>
          <a:xfrm>
            <a:off x="777240" y="1746504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Num 1"/>
          <p:cNvSpPr txBox="1"/>
          <p:nvPr/>
        </p:nvSpPr>
        <p:spPr>
          <a:xfrm>
            <a:off x="777240" y="1746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Rumusan 1"/>
          <p:cNvSpPr txBox="1"/>
          <p:nvPr/>
        </p:nvSpPr>
        <p:spPr>
          <a:xfrm>
            <a:off x="1188720" y="166420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Apa itu diferensiasi dan turunan dalam bisnis?</a:t>
            </a:r>
            <a:endParaRPr lang="en-US" sz="1400" dirty="0"/>
          </a:p>
        </p:txBody>
      </p:sp>
      <p:sp>
        <p:nvSpPr>
          <p:cNvPr id="10" name="No 2"/>
          <p:cNvSpPr/>
          <p:nvPr/>
        </p:nvSpPr>
        <p:spPr>
          <a:xfrm>
            <a:off x="777240" y="2203704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Num 2"/>
          <p:cNvSpPr txBox="1"/>
          <p:nvPr/>
        </p:nvSpPr>
        <p:spPr>
          <a:xfrm>
            <a:off x="777240" y="22037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Rumusan 2"/>
          <p:cNvSpPr txBox="1"/>
          <p:nvPr/>
        </p:nvSpPr>
        <p:spPr>
          <a:xfrm>
            <a:off x="1188720" y="212140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Bagaimana Product, Quotient, dan Chain Rule dipakai?</a:t>
            </a:r>
            <a:endParaRPr lang="en-US" sz="1400" dirty="0"/>
          </a:p>
        </p:txBody>
      </p:sp>
      <p:sp>
        <p:nvSpPr>
          <p:cNvPr id="13" name="No 3"/>
          <p:cNvSpPr/>
          <p:nvPr/>
        </p:nvSpPr>
        <p:spPr>
          <a:xfrm>
            <a:off x="777240" y="2660904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Num 3"/>
          <p:cNvSpPr txBox="1"/>
          <p:nvPr/>
        </p:nvSpPr>
        <p:spPr>
          <a:xfrm>
            <a:off x="777240" y="26609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Rumusan 3"/>
          <p:cNvSpPr txBox="1"/>
          <p:nvPr/>
        </p:nvSpPr>
        <p:spPr>
          <a:xfrm>
            <a:off x="1188720" y="257860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Bagaimana turunan menganalisis revenue, cost, dan profit?</a:t>
            </a:r>
            <a:endParaRPr lang="en-US" sz="1400" dirty="0"/>
          </a:p>
        </p:txBody>
      </p:sp>
      <p:sp>
        <p:nvSpPr>
          <p:cNvPr id="16" name="No 4"/>
          <p:cNvSpPr/>
          <p:nvPr/>
        </p:nvSpPr>
        <p:spPr>
          <a:xfrm>
            <a:off x="777240" y="3118104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Num 4"/>
          <p:cNvSpPr txBox="1"/>
          <p:nvPr/>
        </p:nvSpPr>
        <p:spPr>
          <a:xfrm>
            <a:off x="777240" y="3118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Rumusan 4"/>
          <p:cNvSpPr txBox="1"/>
          <p:nvPr/>
        </p:nvSpPr>
        <p:spPr>
          <a:xfrm>
            <a:off x="1188720" y="303580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Bagaimana output optimal ditentukan dengan MR = MC?</a:t>
            </a:r>
            <a:endParaRPr lang="en-US" sz="1400" dirty="0"/>
          </a:p>
        </p:txBody>
      </p:sp>
      <p:sp>
        <p:nvSpPr>
          <p:cNvPr id="19" name="No 5"/>
          <p:cNvSpPr/>
          <p:nvPr/>
        </p:nvSpPr>
        <p:spPr>
          <a:xfrm>
            <a:off x="777240" y="3575304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Num 5"/>
          <p:cNvSpPr txBox="1"/>
          <p:nvPr/>
        </p:nvSpPr>
        <p:spPr>
          <a:xfrm>
            <a:off x="777240" y="35753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5</a:t>
            </a:r>
            <a:endParaRPr lang="en-US" sz="1300" dirty="0"/>
          </a:p>
        </p:txBody>
      </p:sp>
      <p:sp>
        <p:nvSpPr>
          <p:cNvPr id="21" name="Rumusan 5"/>
          <p:cNvSpPr txBox="1"/>
          <p:nvPr/>
        </p:nvSpPr>
        <p:spPr>
          <a:xfrm>
            <a:off x="1188720" y="349300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Apa itu elastisitas harga permintaan?</a:t>
            </a:r>
            <a:endParaRPr lang="en-US" sz="1400" dirty="0"/>
          </a:p>
        </p:txBody>
      </p:sp>
      <p:sp>
        <p:nvSpPr>
          <p:cNvPr id="22" name="No 6"/>
          <p:cNvSpPr/>
          <p:nvPr/>
        </p:nvSpPr>
        <p:spPr>
          <a:xfrm>
            <a:off x="777240" y="4032504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Num 6"/>
          <p:cNvSpPr txBox="1"/>
          <p:nvPr/>
        </p:nvSpPr>
        <p:spPr>
          <a:xfrm>
            <a:off x="777240" y="4032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6</a:t>
            </a:r>
            <a:endParaRPr lang="en-US" sz="1300" dirty="0"/>
          </a:p>
        </p:txBody>
      </p:sp>
      <p:sp>
        <p:nvSpPr>
          <p:cNvPr id="24" name="Rumusan 6"/>
          <p:cNvSpPr txBox="1"/>
          <p:nvPr/>
        </p:nvSpPr>
        <p:spPr>
          <a:xfrm>
            <a:off x="1188720" y="395020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Bagaimana perubahan kurs memengaruhi permintaan?</a:t>
            </a:r>
            <a:endParaRPr lang="en-US" sz="1400" dirty="0"/>
          </a:p>
        </p:txBody>
      </p:sp>
      <p:sp>
        <p:nvSpPr>
          <p:cNvPr id="25" name="No 1"/>
          <p:cNvSpPr/>
          <p:nvPr/>
        </p:nvSpPr>
        <p:spPr>
          <a:xfrm>
            <a:off x="4892040" y="1746504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Num 1"/>
          <p:cNvSpPr txBox="1"/>
          <p:nvPr/>
        </p:nvSpPr>
        <p:spPr>
          <a:xfrm>
            <a:off x="4892040" y="1746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27" name="Tujuan 1"/>
          <p:cNvSpPr txBox="1"/>
          <p:nvPr/>
        </p:nvSpPr>
        <p:spPr>
          <a:xfrm>
            <a:off x="5303520" y="166420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Menjelaskan konsep diferensiasi dalam bisnis internasional</a:t>
            </a:r>
            <a:endParaRPr lang="en-US" sz="1400" dirty="0"/>
          </a:p>
        </p:txBody>
      </p:sp>
      <p:sp>
        <p:nvSpPr>
          <p:cNvPr id="28" name="No 2"/>
          <p:cNvSpPr/>
          <p:nvPr/>
        </p:nvSpPr>
        <p:spPr>
          <a:xfrm>
            <a:off x="4892040" y="2203704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Num 2"/>
          <p:cNvSpPr txBox="1"/>
          <p:nvPr/>
        </p:nvSpPr>
        <p:spPr>
          <a:xfrm>
            <a:off x="4892040" y="22037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sp>
        <p:nvSpPr>
          <p:cNvPr id="30" name="Tujuan 2"/>
          <p:cNvSpPr txBox="1"/>
          <p:nvPr/>
        </p:nvSpPr>
        <p:spPr>
          <a:xfrm>
            <a:off x="5303520" y="212140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Menerapkan aturan dasar diferensiasi</a:t>
            </a:r>
            <a:endParaRPr lang="en-US" sz="1400" dirty="0"/>
          </a:p>
        </p:txBody>
      </p:sp>
      <p:sp>
        <p:nvSpPr>
          <p:cNvPr id="31" name="No 3"/>
          <p:cNvSpPr/>
          <p:nvPr/>
        </p:nvSpPr>
        <p:spPr>
          <a:xfrm>
            <a:off x="4892040" y="2660904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2" name="Num 3"/>
          <p:cNvSpPr txBox="1"/>
          <p:nvPr/>
        </p:nvSpPr>
        <p:spPr>
          <a:xfrm>
            <a:off x="4892040" y="26609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3</a:t>
            </a:r>
            <a:endParaRPr lang="en-US" sz="1300" dirty="0"/>
          </a:p>
        </p:txBody>
      </p:sp>
      <p:sp>
        <p:nvSpPr>
          <p:cNvPr id="33" name="Tujuan 3"/>
          <p:cNvSpPr txBox="1"/>
          <p:nvPr/>
        </p:nvSpPr>
        <p:spPr>
          <a:xfrm>
            <a:off x="5303520" y="257860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Menentukan MR, MC, profit, dan output optimal</a:t>
            </a:r>
            <a:endParaRPr lang="en-US" sz="1400" dirty="0"/>
          </a:p>
        </p:txBody>
      </p:sp>
      <p:sp>
        <p:nvSpPr>
          <p:cNvPr id="34" name="No 4"/>
          <p:cNvSpPr/>
          <p:nvPr/>
        </p:nvSpPr>
        <p:spPr>
          <a:xfrm>
            <a:off x="4892040" y="3118104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5" name="Num 4"/>
          <p:cNvSpPr txBox="1"/>
          <p:nvPr/>
        </p:nvSpPr>
        <p:spPr>
          <a:xfrm>
            <a:off x="4892040" y="3118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4</a:t>
            </a:r>
            <a:endParaRPr lang="en-US" sz="1300" dirty="0"/>
          </a:p>
        </p:txBody>
      </p:sp>
      <p:sp>
        <p:nvSpPr>
          <p:cNvPr id="36" name="Tujuan 4"/>
          <p:cNvSpPr txBox="1"/>
          <p:nvPr/>
        </p:nvSpPr>
        <p:spPr>
          <a:xfrm>
            <a:off x="5303520" y="303580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Menjelaskan elastisitas harga permintaan</a:t>
            </a:r>
            <a:endParaRPr lang="en-US" sz="1400" dirty="0"/>
          </a:p>
        </p:txBody>
      </p:sp>
      <p:sp>
        <p:nvSpPr>
          <p:cNvPr id="37" name="No 5"/>
          <p:cNvSpPr/>
          <p:nvPr/>
        </p:nvSpPr>
        <p:spPr>
          <a:xfrm>
            <a:off x="4892040" y="3575304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8" name="Num 5"/>
          <p:cNvSpPr txBox="1"/>
          <p:nvPr/>
        </p:nvSpPr>
        <p:spPr>
          <a:xfrm>
            <a:off x="4892040" y="35753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5</a:t>
            </a:r>
            <a:endParaRPr lang="en-US" sz="1300" dirty="0"/>
          </a:p>
        </p:txBody>
      </p:sp>
      <p:sp>
        <p:nvSpPr>
          <p:cNvPr id="39" name="Tujuan 5"/>
          <p:cNvSpPr txBox="1"/>
          <p:nvPr/>
        </p:nvSpPr>
        <p:spPr>
          <a:xfrm>
            <a:off x="5303520" y="349300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Menganalisis hubungan kurs, harga, dan permintaan</a:t>
            </a:r>
            <a:endParaRPr lang="en-US" sz="1400" dirty="0"/>
          </a:p>
        </p:txBody>
      </p:sp>
      <p:sp>
        <p:nvSpPr>
          <p:cNvPr id="40" name="No 6"/>
          <p:cNvSpPr/>
          <p:nvPr/>
        </p:nvSpPr>
        <p:spPr>
          <a:xfrm>
            <a:off x="4892040" y="4032504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1" name="Num 6"/>
          <p:cNvSpPr txBox="1"/>
          <p:nvPr/>
        </p:nvSpPr>
        <p:spPr>
          <a:xfrm>
            <a:off x="4892040" y="4032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6</a:t>
            </a:r>
            <a:endParaRPr lang="en-US" sz="1300" dirty="0"/>
          </a:p>
        </p:txBody>
      </p:sp>
      <p:sp>
        <p:nvSpPr>
          <p:cNvPr id="42" name="Tujuan 6"/>
          <p:cNvSpPr txBox="1"/>
          <p:nvPr/>
        </p:nvSpPr>
        <p:spPr>
          <a:xfrm>
            <a:off x="5303520" y="395020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Mengubah hasil matematika menjadi keputusan bisnis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5720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Pengertian &amp; Aturan Dasar</a:t>
            </a:r>
            <a:endParaRPr lang="en-US" sz="2800" dirty="0"/>
          </a:p>
        </p:txBody>
      </p:sp>
      <p:sp>
        <p:nvSpPr>
          <p:cNvPr id="3" name="Kartu pengertian"/>
          <p:cNvSpPr/>
          <p:nvPr/>
        </p:nvSpPr>
        <p:spPr>
          <a:xfrm>
            <a:off x="548640" y="1188720"/>
            <a:ext cx="3657600" cy="3246120"/>
          </a:xfrm>
          <a:prstGeom prst="roundRect">
            <a:avLst>
              <a:gd name="adj" fmla="val 2817"/>
            </a:avLst>
          </a:prstGeom>
          <a:solidFill>
            <a:schemeClr val="tx1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3258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PERTANYAAN INTI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627632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Jika x berubah sedikit, seberapa besar y berubah?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603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f′(x) = dy/dx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4612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Dalam bisnis, fungsi menggambarkan revenue atau cost; turunan menunjukkan perubahannya saat jumlah unit berubah.</a:t>
            </a:r>
            <a:endParaRPr lang="en-US" sz="1400" dirty="0"/>
          </a:p>
        </p:txBody>
      </p:sp>
      <p:sp>
        <p:nvSpPr>
          <p:cNvPr id="8" name="Aturan 1"/>
          <p:cNvSpPr/>
          <p:nvPr/>
        </p:nvSpPr>
        <p:spPr>
          <a:xfrm>
            <a:off x="4480560" y="1188720"/>
            <a:ext cx="4114800" cy="960120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63440" y="1280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Turunan konstanta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16002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f(x) = c  →  f′(x) = 0</a:t>
            </a:r>
            <a:endParaRPr lang="en-US" sz="1800" dirty="0"/>
          </a:p>
        </p:txBody>
      </p:sp>
      <p:sp>
        <p:nvSpPr>
          <p:cNvPr id="11" name="Aturan 2"/>
          <p:cNvSpPr/>
          <p:nvPr/>
        </p:nvSpPr>
        <p:spPr>
          <a:xfrm>
            <a:off x="4480560" y="2304288"/>
            <a:ext cx="4114800" cy="960120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663440" y="23957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Aturan pangkat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71576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f(x) = xⁿ  →  f′(x) = nxⁿ⁻¹</a:t>
            </a:r>
            <a:endParaRPr lang="en-US" sz="1800" dirty="0"/>
          </a:p>
        </p:txBody>
      </p:sp>
      <p:sp>
        <p:nvSpPr>
          <p:cNvPr id="14" name="Aturan 3"/>
          <p:cNvSpPr/>
          <p:nvPr/>
        </p:nvSpPr>
        <p:spPr>
          <a:xfrm>
            <a:off x="4480560" y="3419856"/>
            <a:ext cx="4114800" cy="960120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663440" y="35112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Aturan penjumlahan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383133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(g(x) + h(x))′ = g′(x) + h′(x)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5720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Product, Quotient &amp; Chain Rule</a:t>
            </a:r>
            <a:endParaRPr lang="en-US" sz="2800" dirty="0"/>
          </a:p>
        </p:txBody>
      </p:sp>
      <p:sp>
        <p:nvSpPr>
          <p:cNvPr id="3" name="Product Rule"/>
          <p:cNvSpPr/>
          <p:nvPr/>
        </p:nvSpPr>
        <p:spPr>
          <a:xfrm>
            <a:off x="548640" y="1188720"/>
            <a:ext cx="2560320" cy="1965960"/>
          </a:xfrm>
          <a:prstGeom prst="roundRect">
            <a:avLst>
              <a:gd name="adj" fmla="val 4651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2984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Product Rule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6420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(uv)′ =</a:t>
            </a:r>
            <a:endParaRPr lang="en-US" sz="16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u′v + uv′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514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dipakai saat dua fungsi dikalikan</a:t>
            </a:r>
            <a:endParaRPr lang="en-US" sz="1400" dirty="0"/>
          </a:p>
        </p:txBody>
      </p:sp>
      <p:sp>
        <p:nvSpPr>
          <p:cNvPr id="7" name="Quotient Rule"/>
          <p:cNvSpPr/>
          <p:nvPr/>
        </p:nvSpPr>
        <p:spPr>
          <a:xfrm>
            <a:off x="3291840" y="1188720"/>
            <a:ext cx="2560320" cy="1965960"/>
          </a:xfrm>
          <a:prstGeom prst="roundRect">
            <a:avLst>
              <a:gd name="adj" fmla="val 4651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29000" y="12984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Quotient Rule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66420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(u/v)′ =</a:t>
            </a:r>
            <a:endParaRPr lang="en-US" sz="16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(u′v − uv′) / v²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514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dipakai saat satu fungsi dibagi fungsi lain</a:t>
            </a:r>
            <a:endParaRPr lang="en-US" sz="1400" dirty="0"/>
          </a:p>
        </p:txBody>
      </p:sp>
      <p:sp>
        <p:nvSpPr>
          <p:cNvPr id="11" name="Chain Rule"/>
          <p:cNvSpPr/>
          <p:nvPr/>
        </p:nvSpPr>
        <p:spPr>
          <a:xfrm>
            <a:off x="6035040" y="1188720"/>
            <a:ext cx="2560320" cy="1965960"/>
          </a:xfrm>
          <a:prstGeom prst="roundRect">
            <a:avLst>
              <a:gd name="adj" fmla="val 4651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172200" y="12984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Chain Rule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172200" y="166420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dy/dx =</a:t>
            </a:r>
            <a:endParaRPr lang="en-US" sz="16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f′(g(x)) · g′(x)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2514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dipakai pada fungsi berantai y = f(g(x))</a:t>
            </a:r>
            <a:endParaRPr lang="en-US" sz="1400" dirty="0"/>
          </a:p>
        </p:txBody>
      </p:sp>
      <p:sp>
        <p:nvSpPr>
          <p:cNvPr id="15" name="Banner kurs"/>
          <p:cNvSpPr/>
          <p:nvPr/>
        </p:nvSpPr>
        <p:spPr>
          <a:xfrm>
            <a:off x="548640" y="3383280"/>
            <a:ext cx="8046720" cy="1051560"/>
          </a:xfrm>
          <a:prstGeom prst="roundRect">
            <a:avLst>
              <a:gd name="adj" fmla="val 8696"/>
            </a:avLst>
          </a:prstGeom>
          <a:solidFill>
            <a:schemeClr val="tx1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77240" y="3456432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Chain Rule di bisnis internasional: permintaan Q bergantung pada harga P, dan P bergantung pada kurs 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3456432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dQ/dE = (dQ/dP)(dP/dE)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5720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Revenue, Cost &amp; Profit</a:t>
            </a:r>
            <a:endParaRPr lang="en-US" sz="2800" dirty="0"/>
          </a:p>
        </p:txBody>
      </p:sp>
      <p:sp>
        <p:nvSpPr>
          <p:cNvPr id="3" name="Revenue R(Q)"/>
          <p:cNvSpPr/>
          <p:nvPr/>
        </p:nvSpPr>
        <p:spPr>
          <a:xfrm>
            <a:off x="548640" y="1188720"/>
            <a:ext cx="2560320" cy="182880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2984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Revenue R(Q)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91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MR = R′(Q)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402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Tambahan revenue dari satu unit tambahan</a:t>
            </a:r>
            <a:endParaRPr lang="en-US" sz="1400" dirty="0"/>
          </a:p>
        </p:txBody>
      </p:sp>
      <p:sp>
        <p:nvSpPr>
          <p:cNvPr id="7" name="Cost C(Q)"/>
          <p:cNvSpPr/>
          <p:nvPr/>
        </p:nvSpPr>
        <p:spPr>
          <a:xfrm>
            <a:off x="3291840" y="1188720"/>
            <a:ext cx="2560320" cy="182880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29000" y="12984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Cost C(Q)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691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MC = C′(Q)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2402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Tambahan cost dari satu unit tambahan</a:t>
            </a:r>
            <a:endParaRPr lang="en-US" sz="1400" dirty="0"/>
          </a:p>
        </p:txBody>
      </p:sp>
      <p:sp>
        <p:nvSpPr>
          <p:cNvPr id="11" name="Profit"/>
          <p:cNvSpPr/>
          <p:nvPr/>
        </p:nvSpPr>
        <p:spPr>
          <a:xfrm>
            <a:off x="6035040" y="1188720"/>
            <a:ext cx="2560320" cy="182880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172200" y="12984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Profit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172200" y="1691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π′(Q) = MR − MC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22402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dengan π(Q) = R(Q) − C(Q)</a:t>
            </a:r>
            <a:endParaRPr lang="en-US" sz="1400" dirty="0"/>
          </a:p>
        </p:txBody>
      </p:sp>
      <p:sp>
        <p:nvSpPr>
          <p:cNvPr id="15" name="Banner MR=MC"/>
          <p:cNvSpPr/>
          <p:nvPr/>
        </p:nvSpPr>
        <p:spPr>
          <a:xfrm>
            <a:off x="548640" y="3246120"/>
            <a:ext cx="8046720" cy="1188720"/>
          </a:xfrm>
          <a:prstGeom prst="roundRect">
            <a:avLst>
              <a:gd name="adj" fmla="val 7692"/>
            </a:avLst>
          </a:prstGeom>
          <a:solidFill>
            <a:schemeClr val="tx1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77240" y="3310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Kandidat output pemaksimal profit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36118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π′(Q) = 0  →  MR = MC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33375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Tetap pertimbangkan kapasitas, pasar, logistik, tarif, kurs, dan faktor operasional.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5720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Elastisitas Harga Permintaan</a:t>
            </a:r>
            <a:endParaRPr lang="en-US" sz="2800" dirty="0"/>
          </a:p>
        </p:txBody>
      </p:sp>
      <p:sp>
        <p:nvSpPr>
          <p:cNvPr id="3" name="Cincin elastisitas outer"/>
          <p:cNvSpPr/>
          <p:nvPr/>
        </p:nvSpPr>
        <p:spPr>
          <a:xfrm>
            <a:off x="822960" y="1143000"/>
            <a:ext cx="2103120" cy="2103120"/>
          </a:xfrm>
          <a:prstGeom prst="ellipse">
            <a:avLst/>
          </a:prstGeom>
          <a:ln w="19050">
            <a:solidFill>
              <a:schemeClr val="accent2"/>
            </a:solidFill>
            <a:prstDash val="solid"/>
          </a:ln>
        </p:spPr>
      </p:sp>
      <p:sp>
        <p:nvSpPr>
          <p:cNvPr id="4" name="Cincin elastisitas"/>
          <p:cNvSpPr/>
          <p:nvPr/>
        </p:nvSpPr>
        <p:spPr>
          <a:xfrm>
            <a:off x="960120" y="1280160"/>
            <a:ext cx="1828800" cy="18288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2801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i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</a:t>
            </a:r>
            <a:pPr algn="ctr" indent="0" marL="0">
              <a:buNone/>
            </a:pPr>
            <a:r>
              <a:rPr lang="en-US" sz="4400" b="1" i="1" baseline="-400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</a:t>
            </a:r>
            <a:endParaRPr lang="en-US" sz="4400" dirty="0"/>
          </a:p>
        </p:txBody>
      </p:sp>
      <p:sp>
        <p:nvSpPr>
          <p:cNvPr id="6" name="Pil rumus"/>
          <p:cNvSpPr/>
          <p:nvPr/>
        </p:nvSpPr>
        <p:spPr>
          <a:xfrm>
            <a:off x="548640" y="3383280"/>
            <a:ext cx="274320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3383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</a:t>
            </a:r>
            <a:pPr algn="ctr" indent="0" marL="0">
              <a:buNone/>
            </a:pPr>
            <a:r>
              <a:rPr lang="en-US" sz="1600" baseline="-40000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</a:t>
            </a:r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 =  (dQ/dP)(P/Q)</a:t>
            </a:r>
            <a:endParaRPr lang="en-US" sz="1600" dirty="0"/>
          </a:p>
        </p:txBody>
      </p:sp>
      <p:sp>
        <p:nvSpPr>
          <p:cNvPr id="8" name="Baris Inelastis"/>
          <p:cNvSpPr/>
          <p:nvPr/>
        </p:nvSpPr>
        <p:spPr>
          <a:xfrm>
            <a:off x="3749040" y="1188720"/>
            <a:ext cx="4846320" cy="621792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9" name="Lencana Inelastis"/>
          <p:cNvSpPr/>
          <p:nvPr/>
        </p:nvSpPr>
        <p:spPr>
          <a:xfrm>
            <a:off x="3840480" y="1280160"/>
            <a:ext cx="1280160" cy="43891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840480" y="128016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|</a:t>
            </a:r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</a:t>
            </a:r>
            <a:pPr algn="ctr" indent="0" marL="0">
              <a:buNone/>
            </a:pPr>
            <a:r>
              <a:rPr lang="en-US" sz="1400" b="1" baseline="-40000" dirty="0">
                <a:solidFill>
                  <a:schemeClr val="tx1"/>
                </a:solidFill>
              </a:rPr>
              <a:t>d</a:t>
            </a:r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| &lt; 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257800" y="1216152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Inelastis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kurang sensitif terhadap harga</a:t>
            </a:r>
            <a:endParaRPr lang="en-US" sz="1400" dirty="0"/>
          </a:p>
        </p:txBody>
      </p:sp>
      <p:sp>
        <p:nvSpPr>
          <p:cNvPr id="12" name="Baris Unit elastis"/>
          <p:cNvSpPr/>
          <p:nvPr/>
        </p:nvSpPr>
        <p:spPr>
          <a:xfrm>
            <a:off x="3749040" y="1920240"/>
            <a:ext cx="4846320" cy="621792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3" name="Lencana Unit elastis"/>
          <p:cNvSpPr/>
          <p:nvPr/>
        </p:nvSpPr>
        <p:spPr>
          <a:xfrm>
            <a:off x="3840480" y="2011680"/>
            <a:ext cx="1280160" cy="43891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840480" y="201168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|</a:t>
            </a:r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</a:t>
            </a:r>
            <a:pPr algn="ctr" indent="0" marL="0">
              <a:buNone/>
            </a:pPr>
            <a:r>
              <a:rPr lang="en-US" sz="1400" b="1" baseline="-40000" dirty="0">
                <a:solidFill>
                  <a:schemeClr val="tx1"/>
                </a:solidFill>
              </a:rPr>
              <a:t>d</a:t>
            </a:r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| = 1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257800" y="1947672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Unit elastis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perubahan sebanding dengan harga</a:t>
            </a:r>
            <a:endParaRPr lang="en-US" sz="1400" dirty="0"/>
          </a:p>
        </p:txBody>
      </p:sp>
      <p:sp>
        <p:nvSpPr>
          <p:cNvPr id="16" name="Baris Elastis"/>
          <p:cNvSpPr/>
          <p:nvPr/>
        </p:nvSpPr>
        <p:spPr>
          <a:xfrm>
            <a:off x="3749040" y="2651760"/>
            <a:ext cx="4846320" cy="621792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7" name="Lencana Elastis"/>
          <p:cNvSpPr/>
          <p:nvPr/>
        </p:nvSpPr>
        <p:spPr>
          <a:xfrm>
            <a:off x="3840480" y="2743200"/>
            <a:ext cx="1280160" cy="43891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840480" y="274320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|</a:t>
            </a:r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</a:t>
            </a:r>
            <a:pPr algn="ctr" indent="0" marL="0">
              <a:buNone/>
            </a:pPr>
            <a:r>
              <a:rPr lang="en-US" sz="1400" b="1" baseline="-40000" dirty="0">
                <a:solidFill>
                  <a:schemeClr val="tx1"/>
                </a:solidFill>
              </a:rPr>
              <a:t>d</a:t>
            </a:r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| &gt; 1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257800" y="2679192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Elastis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relatif sensitif terhadap harga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749040" y="342900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Tanda elastisitas biasanya negatif karena harga dan jumlah diminta berlawanan. Hasilnya bukan perintah otomatis: pertimbangkan pesaing, substitusi, loyalitas, kualitas, positioning, dan daya beli.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5720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8D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Studi Kasus: Serum GlowNusa ke Malaysia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PT GlowNusa  •  serum wajah  •  pasar Malaysia (kasus hipotetis modul)</a:t>
            </a:r>
            <a:endParaRPr lang="en-US" sz="1100" dirty="0"/>
          </a:p>
        </p:txBody>
      </p:sp>
      <p:sp>
        <p:nvSpPr>
          <p:cNvPr id="4" name="Rumus Revenue"/>
          <p:cNvSpPr/>
          <p:nvPr/>
        </p:nvSpPr>
        <p:spPr>
          <a:xfrm>
            <a:off x="548640" y="1508760"/>
            <a:ext cx="4114800" cy="438912"/>
          </a:xfrm>
          <a:prstGeom prst="roundRect">
            <a:avLst>
              <a:gd name="adj" fmla="val 20833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50876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Revenue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150876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R(Q) = 100Q − 2Q²</a:t>
            </a:r>
            <a:endParaRPr lang="en-US" sz="1600" dirty="0"/>
          </a:p>
        </p:txBody>
      </p:sp>
      <p:sp>
        <p:nvSpPr>
          <p:cNvPr id="7" name="Rumus Cost"/>
          <p:cNvSpPr/>
          <p:nvPr/>
        </p:nvSpPr>
        <p:spPr>
          <a:xfrm>
            <a:off x="548640" y="2011680"/>
            <a:ext cx="4114800" cy="438912"/>
          </a:xfrm>
          <a:prstGeom prst="roundRect">
            <a:avLst>
              <a:gd name="adj" fmla="val 20833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201168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Cost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201168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C(Q) = 200 + 20Q + Q²</a:t>
            </a:r>
            <a:endParaRPr lang="en-US" sz="1600" dirty="0"/>
          </a:p>
        </p:txBody>
      </p:sp>
      <p:sp>
        <p:nvSpPr>
          <p:cNvPr id="10" name="Rumus Profit"/>
          <p:cNvSpPr/>
          <p:nvPr/>
        </p:nvSpPr>
        <p:spPr>
          <a:xfrm>
            <a:off x="548640" y="2514600"/>
            <a:ext cx="4114800" cy="438912"/>
          </a:xfrm>
          <a:prstGeom prst="roundRect">
            <a:avLst>
              <a:gd name="adj" fmla="val 20833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" y="251460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Profit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737360" y="25146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π(Q) = 80Q − 3Q² − 200</a:t>
            </a:r>
            <a:endParaRPr lang="en-US" sz="1600" dirty="0"/>
          </a:p>
        </p:txBody>
      </p:sp>
      <p:sp>
        <p:nvSpPr>
          <p:cNvPr id="13" name="Rumus Turunan profit"/>
          <p:cNvSpPr/>
          <p:nvPr/>
        </p:nvSpPr>
        <p:spPr>
          <a:xfrm>
            <a:off x="548640" y="3017520"/>
            <a:ext cx="4114800" cy="438912"/>
          </a:xfrm>
          <a:prstGeom prst="roundRect">
            <a:avLst>
              <a:gd name="adj" fmla="val 20833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" y="301752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Turunan profit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737360" y="301752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π′(Q) = 80 − 6Q</a:t>
            </a:r>
            <a:endParaRPr lang="en-US" sz="1600" dirty="0"/>
          </a:p>
        </p:txBody>
      </p:sp>
      <p:sp>
        <p:nvSpPr>
          <p:cNvPr id="16" name="Hasil Q*"/>
          <p:cNvSpPr/>
          <p:nvPr/>
        </p:nvSpPr>
        <p:spPr>
          <a:xfrm>
            <a:off x="548640" y="3611880"/>
            <a:ext cx="4114800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3639312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Q* = 80/6 = 13,33 unit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π″(Q) = −6 &lt; 0  →  maksimum lokal</a:t>
            </a:r>
            <a:endParaRPr lang="en-US" sz="20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4846320" y="1143000"/>
          <a:ext cx="374904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5720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8D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Membaca Hasil: Keputusan Bisnis</a:t>
            </a:r>
            <a:endParaRPr lang="en-US" sz="2800" dirty="0"/>
          </a:p>
        </p:txBody>
      </p:sp>
      <p:sp>
        <p:nvSpPr>
          <p:cNvPr id="3" name="Statistik 1"/>
          <p:cNvSpPr/>
          <p:nvPr/>
        </p:nvSpPr>
        <p:spPr>
          <a:xfrm>
            <a:off x="548640" y="1188720"/>
            <a:ext cx="2560320" cy="137160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13,33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11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unit, output optimal kontinu</a:t>
            </a:r>
            <a:endParaRPr lang="en-US" sz="1400" dirty="0"/>
          </a:p>
        </p:txBody>
      </p:sp>
      <p:sp>
        <p:nvSpPr>
          <p:cNvPr id="6" name="Statistik 2"/>
          <p:cNvSpPr/>
          <p:nvPr/>
        </p:nvSpPr>
        <p:spPr>
          <a:xfrm>
            <a:off x="3291840" y="1188720"/>
            <a:ext cx="2560320" cy="137160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91840" y="12801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333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2011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profit pada 13 unit</a:t>
            </a:r>
            <a:endParaRPr lang="en-US" sz="1400" dirty="0"/>
          </a:p>
        </p:txBody>
      </p:sp>
      <p:sp>
        <p:nvSpPr>
          <p:cNvPr id="9" name="Statistik 3"/>
          <p:cNvSpPr/>
          <p:nvPr/>
        </p:nvSpPr>
        <p:spPr>
          <a:xfrm>
            <a:off x="6035040" y="1188720"/>
            <a:ext cx="2560320" cy="137160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2801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332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2011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profit pada 14 unit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697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Jika produksi hanya bisa dalam unit utuh, bandingkan profit pada 13 dan 14 unit; di model ini 13 unit sedikit lebih tinggi.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246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Baca hasil model bersama:</a:t>
            </a:r>
            <a:endParaRPr lang="en-US" sz="1400" dirty="0"/>
          </a:p>
        </p:txBody>
      </p:sp>
      <p:sp>
        <p:nvSpPr>
          <p:cNvPr id="14" name="Chip Kapasitas produksi"/>
          <p:cNvSpPr/>
          <p:nvPr/>
        </p:nvSpPr>
        <p:spPr>
          <a:xfrm>
            <a:off x="548640" y="3584448"/>
            <a:ext cx="2560320" cy="384048"/>
          </a:xfrm>
          <a:prstGeom prst="roundRect">
            <a:avLst>
              <a:gd name="adj" fmla="val 47619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5844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Kapasitas produksi</a:t>
            </a:r>
            <a:endParaRPr lang="en-US" sz="1400" dirty="0"/>
          </a:p>
        </p:txBody>
      </p:sp>
      <p:sp>
        <p:nvSpPr>
          <p:cNvPr id="16" name="Chip Permintaan"/>
          <p:cNvSpPr/>
          <p:nvPr/>
        </p:nvSpPr>
        <p:spPr>
          <a:xfrm>
            <a:off x="3291840" y="3584448"/>
            <a:ext cx="2560320" cy="384048"/>
          </a:xfrm>
          <a:prstGeom prst="roundRect">
            <a:avLst>
              <a:gd name="adj" fmla="val 47619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291840" y="35844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Permintaan</a:t>
            </a:r>
            <a:endParaRPr lang="en-US" sz="1400" dirty="0"/>
          </a:p>
        </p:txBody>
      </p:sp>
      <p:sp>
        <p:nvSpPr>
          <p:cNvPr id="18" name="Chip Biaya logistik internasional"/>
          <p:cNvSpPr/>
          <p:nvPr/>
        </p:nvSpPr>
        <p:spPr>
          <a:xfrm>
            <a:off x="6035040" y="3584448"/>
            <a:ext cx="2560320" cy="384048"/>
          </a:xfrm>
          <a:prstGeom prst="roundRect">
            <a:avLst>
              <a:gd name="adj" fmla="val 47619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035040" y="35844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Biaya logistik internasional</a:t>
            </a:r>
            <a:endParaRPr lang="en-US" sz="1400" dirty="0"/>
          </a:p>
        </p:txBody>
      </p:sp>
      <p:sp>
        <p:nvSpPr>
          <p:cNvPr id="20" name="Chip Tarif"/>
          <p:cNvSpPr/>
          <p:nvPr/>
        </p:nvSpPr>
        <p:spPr>
          <a:xfrm>
            <a:off x="548640" y="4041648"/>
            <a:ext cx="2560320" cy="384048"/>
          </a:xfrm>
          <a:prstGeom prst="roundRect">
            <a:avLst>
              <a:gd name="adj" fmla="val 47619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0416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Tarif</a:t>
            </a:r>
            <a:endParaRPr lang="en-US" sz="1400" dirty="0"/>
          </a:p>
        </p:txBody>
      </p:sp>
      <p:sp>
        <p:nvSpPr>
          <p:cNvPr id="22" name="Chip Kurs"/>
          <p:cNvSpPr/>
          <p:nvPr/>
        </p:nvSpPr>
        <p:spPr>
          <a:xfrm>
            <a:off x="3291840" y="4041648"/>
            <a:ext cx="2560320" cy="384048"/>
          </a:xfrm>
          <a:prstGeom prst="roundRect">
            <a:avLst>
              <a:gd name="adj" fmla="val 47619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291840" y="40416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Kurs</a:t>
            </a:r>
            <a:endParaRPr lang="en-US" sz="1400" dirty="0"/>
          </a:p>
        </p:txBody>
      </p:sp>
      <p:sp>
        <p:nvSpPr>
          <p:cNvPr id="24" name="Chip Target pasar"/>
          <p:cNvSpPr/>
          <p:nvPr/>
        </p:nvSpPr>
        <p:spPr>
          <a:xfrm>
            <a:off x="6035040" y="4041648"/>
            <a:ext cx="2560320" cy="384048"/>
          </a:xfrm>
          <a:prstGeom prst="roundRect">
            <a:avLst>
              <a:gd name="adj" fmla="val 47619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035040" y="40416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Target pasar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5720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8D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Latihan A: Turunan Dasar</a:t>
            </a:r>
            <a:endParaRPr lang="en-US" sz="2800" dirty="0"/>
          </a:p>
        </p:txBody>
      </p:sp>
      <p:sp>
        <p:nvSpPr>
          <p:cNvPr id="3" name="Soal 1"/>
          <p:cNvSpPr/>
          <p:nvPr/>
        </p:nvSpPr>
        <p:spPr>
          <a:xfrm>
            <a:off x="548640" y="1188720"/>
            <a:ext cx="3931920" cy="1554480"/>
          </a:xfrm>
          <a:prstGeom prst="roundRect">
            <a:avLst>
              <a:gd name="adj" fmla="val 5882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" name="No 1"/>
          <p:cNvSpPr/>
          <p:nvPr/>
        </p:nvSpPr>
        <p:spPr>
          <a:xfrm>
            <a:off x="685800" y="132588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Num 1"/>
          <p:cNvSpPr txBox="1"/>
          <p:nvPr/>
        </p:nvSpPr>
        <p:spPr>
          <a:xfrm>
            <a:off x="685800" y="1325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9844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f(x) = 5x⁴ − 3x² + 8x + 12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69164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Aturan pangkat + penjumlahan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993392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f′(x) = 20x³ − 6x + 8</a:t>
            </a:r>
            <a:endParaRPr lang="en-US" sz="1400" dirty="0"/>
          </a:p>
        </p:txBody>
      </p:sp>
      <p:sp>
        <p:nvSpPr>
          <p:cNvPr id="9" name="Soal 2"/>
          <p:cNvSpPr/>
          <p:nvPr/>
        </p:nvSpPr>
        <p:spPr>
          <a:xfrm>
            <a:off x="4663440" y="1188720"/>
            <a:ext cx="3931920" cy="1554480"/>
          </a:xfrm>
          <a:prstGeom prst="roundRect">
            <a:avLst>
              <a:gd name="adj" fmla="val 5882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0" name="No 2"/>
          <p:cNvSpPr/>
          <p:nvPr/>
        </p:nvSpPr>
        <p:spPr>
          <a:xfrm>
            <a:off x="4800600" y="132588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Num 2"/>
          <p:cNvSpPr txBox="1"/>
          <p:nvPr/>
        </p:nvSpPr>
        <p:spPr>
          <a:xfrm>
            <a:off x="4800600" y="1325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129844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y = (x² + 2)(4x − 1)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257800" y="169164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Product Rule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257800" y="1993392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y′ = 2x(4x−1) + (x²+2)(4) = 12x² − 2x + 8</a:t>
            </a:r>
            <a:endParaRPr lang="en-US" sz="1400" dirty="0"/>
          </a:p>
        </p:txBody>
      </p:sp>
      <p:sp>
        <p:nvSpPr>
          <p:cNvPr id="15" name="Soal 3"/>
          <p:cNvSpPr/>
          <p:nvPr/>
        </p:nvSpPr>
        <p:spPr>
          <a:xfrm>
            <a:off x="548640" y="2880360"/>
            <a:ext cx="3931920" cy="1554480"/>
          </a:xfrm>
          <a:prstGeom prst="roundRect">
            <a:avLst>
              <a:gd name="adj" fmla="val 5882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6" name="No 3"/>
          <p:cNvSpPr/>
          <p:nvPr/>
        </p:nvSpPr>
        <p:spPr>
          <a:xfrm>
            <a:off x="685800" y="301752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Num 3"/>
          <p:cNvSpPr txBox="1"/>
          <p:nvPr/>
        </p:nvSpPr>
        <p:spPr>
          <a:xfrm>
            <a:off x="685800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299008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y = (2x + 5)³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338328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Chain Rule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3685032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y′ = 3(2x+5)²(2) = 6(2x+5)²</a:t>
            </a:r>
            <a:endParaRPr lang="en-US" sz="1400" dirty="0"/>
          </a:p>
        </p:txBody>
      </p:sp>
      <p:sp>
        <p:nvSpPr>
          <p:cNvPr id="21" name="Soal 4"/>
          <p:cNvSpPr/>
          <p:nvPr/>
        </p:nvSpPr>
        <p:spPr>
          <a:xfrm>
            <a:off x="4663440" y="2880360"/>
            <a:ext cx="3931920" cy="1554480"/>
          </a:xfrm>
          <a:prstGeom prst="roundRect">
            <a:avLst>
              <a:gd name="adj" fmla="val 5882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2" name="No 4"/>
          <p:cNvSpPr/>
          <p:nvPr/>
        </p:nvSpPr>
        <p:spPr>
          <a:xfrm>
            <a:off x="4800600" y="301752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Num 4"/>
          <p:cNvSpPr txBox="1"/>
          <p:nvPr/>
        </p:nvSpPr>
        <p:spPr>
          <a:xfrm>
            <a:off x="4800600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257800" y="299008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y = (x² + 1)/(x + 3)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257800" y="338328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Quotient Rule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257800" y="3685032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y′ = [2x(x+3) − (x²+1)]/(x+3)² = (x²+6x−1)/(x+3)²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5720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8D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Latihan B &amp; C: Marginal dan Elastisitas</a:t>
            </a:r>
            <a:endParaRPr lang="en-US" sz="2800" dirty="0"/>
          </a:p>
        </p:txBody>
      </p:sp>
      <p:sp>
        <p:nvSpPr>
          <p:cNvPr id="3" name="Kartu marginal"/>
          <p:cNvSpPr/>
          <p:nvPr/>
        </p:nvSpPr>
        <p:spPr>
          <a:xfrm>
            <a:off x="548640" y="1143000"/>
            <a:ext cx="3931920" cy="3337560"/>
          </a:xfrm>
          <a:prstGeom prst="roundRect">
            <a:avLst>
              <a:gd name="adj" fmla="val 2740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" name="Kartu elastisitas"/>
          <p:cNvSpPr/>
          <p:nvPr/>
        </p:nvSpPr>
        <p:spPr>
          <a:xfrm>
            <a:off x="4663440" y="1143000"/>
            <a:ext cx="3931920" cy="3337560"/>
          </a:xfrm>
          <a:prstGeom prst="roundRect">
            <a:avLst>
              <a:gd name="adj" fmla="val 2740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B. Marginal Analysis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89204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C. Elastisitas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645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MR = R′(Q) = 120 − 6Q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0299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MC = C′(Q) = 20 + 2Q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41401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π(Q) = 100Q − 4Q² − 100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79806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MR = MC → 120 − 6Q = 20 + 2Q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1821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π″(Q) = −8 &lt; 0 → maksimum lokal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645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 = 20 → Q = 160 − 4(20) = 80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20299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dQ/dP = −4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241401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</a:t>
            </a:r>
            <a:pPr indent="0" marL="0">
              <a:buNone/>
            </a:pPr>
            <a:r>
              <a:rPr lang="en-US" sz="1400" baseline="-4000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= (−4)(20/80) = −1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8346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Perubahan harga di titik ini diikuti perubahan persentase permintaan yang sebanding; keputusan harga tetap perlu melihat pesaing, substitusi, dan daya beli.</a:t>
            </a:r>
            <a:endParaRPr lang="en-US" sz="1400" dirty="0"/>
          </a:p>
        </p:txBody>
      </p:sp>
      <p:sp>
        <p:nvSpPr>
          <p:cNvPr id="16" name="Hasil B"/>
          <p:cNvSpPr/>
          <p:nvPr/>
        </p:nvSpPr>
        <p:spPr>
          <a:xfrm>
            <a:off x="777240" y="3703320"/>
            <a:ext cx="3474720" cy="594360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370332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Q = 12,5 unit</a:t>
            </a:r>
            <a:endParaRPr lang="en-US" sz="2000" dirty="0"/>
          </a:p>
        </p:txBody>
      </p:sp>
      <p:sp>
        <p:nvSpPr>
          <p:cNvPr id="18" name="Hasil C"/>
          <p:cNvSpPr/>
          <p:nvPr/>
        </p:nvSpPr>
        <p:spPr>
          <a:xfrm>
            <a:off x="4892040" y="3703320"/>
            <a:ext cx="3474720" cy="594360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892040" y="370332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|</a:t>
            </a:r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</a:t>
            </a:r>
            <a:pPr algn="ctr" indent="0" marL="0">
              <a:buNone/>
            </a:pPr>
            <a:r>
              <a:rPr lang="en-US" sz="1800" b="1" baseline="-400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</a:t>
            </a:r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| = 1  →  unit elastis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5720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8D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Kesimpulan</a:t>
            </a:r>
            <a:endParaRPr lang="en-US" sz="2800" dirty="0"/>
          </a:p>
        </p:txBody>
      </p:sp>
      <p:sp>
        <p:nvSpPr>
          <p:cNvPr id="3" name="Poin 1"/>
          <p:cNvSpPr/>
          <p:nvPr/>
        </p:nvSpPr>
        <p:spPr>
          <a:xfrm>
            <a:off x="548640" y="1188720"/>
            <a:ext cx="5120640" cy="960120"/>
          </a:xfrm>
          <a:prstGeom prst="roundRect">
            <a:avLst>
              <a:gd name="adj" fmla="val 9524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" name="No 1"/>
          <p:cNvSpPr/>
          <p:nvPr/>
        </p:nvSpPr>
        <p:spPr>
          <a:xfrm>
            <a:off x="731520" y="149047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Num 1"/>
          <p:cNvSpPr txBox="1"/>
          <p:nvPr/>
        </p:nvSpPr>
        <p:spPr>
          <a:xfrm>
            <a:off x="731520" y="1490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234440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Turunan membantu menghitung MR dan MC serta mencari output optimal lewat MR = MC dan turunan kedua.</a:t>
            </a:r>
            <a:endParaRPr lang="en-US" sz="1400" dirty="0"/>
          </a:p>
        </p:txBody>
      </p:sp>
      <p:sp>
        <p:nvSpPr>
          <p:cNvPr id="7" name="Poin 2"/>
          <p:cNvSpPr/>
          <p:nvPr/>
        </p:nvSpPr>
        <p:spPr>
          <a:xfrm>
            <a:off x="548640" y="2286000"/>
            <a:ext cx="5120640" cy="960120"/>
          </a:xfrm>
          <a:prstGeom prst="roundRect">
            <a:avLst>
              <a:gd name="adj" fmla="val 9524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8" name="No 2"/>
          <p:cNvSpPr/>
          <p:nvPr/>
        </p:nvSpPr>
        <p:spPr>
          <a:xfrm>
            <a:off x="731520" y="258775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Num 2"/>
          <p:cNvSpPr txBox="1"/>
          <p:nvPr/>
        </p:nvSpPr>
        <p:spPr>
          <a:xfrm>
            <a:off x="731520" y="2587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331720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Elastisitas menunjukkan sensitivitas permintaan terhadap harga; Chain Rule menghubungkan kurs, harga, dan permintaan.</a:t>
            </a:r>
            <a:endParaRPr lang="en-US" sz="1400" dirty="0"/>
          </a:p>
        </p:txBody>
      </p:sp>
      <p:sp>
        <p:nvSpPr>
          <p:cNvPr id="11" name="Poin 3"/>
          <p:cNvSpPr/>
          <p:nvPr/>
        </p:nvSpPr>
        <p:spPr>
          <a:xfrm>
            <a:off x="548640" y="3383280"/>
            <a:ext cx="5120640" cy="960120"/>
          </a:xfrm>
          <a:prstGeom prst="roundRect">
            <a:avLst>
              <a:gd name="adj" fmla="val 9524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2" name="No 3"/>
          <p:cNvSpPr/>
          <p:nvPr/>
        </p:nvSpPr>
        <p:spPr>
          <a:xfrm>
            <a:off x="731520" y="368503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Num 3"/>
          <p:cNvSpPr txBox="1"/>
          <p:nvPr/>
        </p:nvSpPr>
        <p:spPr>
          <a:xfrm>
            <a:off x="731520" y="3685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429000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Hasil matematika harus diterjemahkan ke keputusan bisnis dengan mempertimbangkan kapasitas, persaingan, logistik, tarif, kurs, dan pasar.</a:t>
            </a:r>
            <a:endParaRPr lang="en-US" sz="1400" dirty="0"/>
          </a:p>
        </p:txBody>
      </p:sp>
      <p:sp>
        <p:nvSpPr>
          <p:cNvPr id="15" name="Cincin penutup outer"/>
          <p:cNvSpPr/>
          <p:nvPr/>
        </p:nvSpPr>
        <p:spPr>
          <a:xfrm>
            <a:off x="6355080" y="1280160"/>
            <a:ext cx="2377440" cy="2377440"/>
          </a:xfrm>
          <a:prstGeom prst="ellipse">
            <a:avLst/>
          </a:prstGeom>
          <a:ln w="19050">
            <a:solidFill>
              <a:schemeClr val="accent2"/>
            </a:solidFill>
            <a:prstDash val="solid"/>
          </a:ln>
        </p:spPr>
      </p:sp>
      <p:sp>
        <p:nvSpPr>
          <p:cNvPr id="16" name="Cincin penutup"/>
          <p:cNvSpPr/>
          <p:nvPr/>
        </p:nvSpPr>
        <p:spPr>
          <a:xfrm>
            <a:off x="6492240" y="1417320"/>
            <a:ext cx="2103120" cy="210312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92240" y="141732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MR = MC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38404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Terima kasih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5720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8D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lowNusa Navy Gold">
  <a:themeElements>
    <a:clrScheme name="GlowNusa Navy Gold">
      <a:dk1>
        <a:srgbClr val="0A1A33"/>
      </a:dk1>
      <a:lt1>
        <a:srgbClr val="FFFFFF"/>
      </a:lt1>
      <a:dk2>
        <a:srgbClr val="132A4D"/>
      </a:dk2>
      <a:lt2>
        <a:srgbClr val="F4EEE2"/>
      </a:lt2>
      <a:accent1>
        <a:srgbClr val="D4AF6A"/>
      </a:accent1>
      <a:accent2>
        <a:srgbClr val="9A6B2C"/>
      </a:accent2>
      <a:accent3>
        <a:srgbClr val="1F3B66"/>
      </a:accent3>
      <a:accent4>
        <a:srgbClr val="8FA3BF"/>
      </a:accent4>
      <a:accent5>
        <a:srgbClr val="E8D5A3"/>
      </a:accent5>
      <a:accent6>
        <a:srgbClr val="5C7A99"/>
      </a:accent6>
      <a:hlink>
        <a:srgbClr val="D4AF6A"/>
      </a:hlink>
      <a:folHlink>
        <a:srgbClr val="8FA3BF"/>
      </a:folHlink>
    </a:clrScheme>
    <a:fontScheme name="GlowNusa Navy Gol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Menghitung Untung Ekspor Serum Wajah ke Malaysia</dc:title>
  <dc:subject>PptxGenJS Presentation</dc:subject>
  <dc:creator>Kelompok Matematika Bisnis - Politeknik Negeri Bengkalis</dc:creator>
  <cp:lastModifiedBy>Kelompok Matematika Bisnis - Politeknik Negeri Bengkalis</cp:lastModifiedBy>
  <cp:revision>1</cp:revision>
  <dcterms:created xsi:type="dcterms:W3CDTF">2026-10-07T15:58:52Z</dcterms:created>
  <dcterms:modified xsi:type="dcterms:W3CDTF">2026-10-07T15:58:52Z</dcterms:modified>
</cp:coreProperties>
</file>